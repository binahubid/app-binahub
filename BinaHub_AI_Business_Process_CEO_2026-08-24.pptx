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be032055d4f81" /><Relationship Type="http://schemas.openxmlformats.org/officeDocument/2006/relationships/extended-properties" Target="/docProps/app.xml" Id="R760c807847644e07" /><Relationship Type="http://schemas.openxmlformats.org/officeDocument/2006/relationships/officeDocument" Target="/ppt/presentation.xml" Id="Rd1c2bae634f4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e36122bef4f56"/>
  </p:sldMasterIdLst>
  <p:notesMasterIdLst>
    <p:notesMasterId xmlns:r="http://schemas.openxmlformats.org/officeDocument/2006/relationships" r:id="R46b0d704442e4110"/>
  </p:notesMasterIdLst>
  <p:sldIdLst>
    <p:sldId xmlns:r="http://schemas.openxmlformats.org/officeDocument/2006/relationships" id="256" r:id="R2b87ee7ed0134329"/>
    <p:sldId xmlns:r="http://schemas.openxmlformats.org/officeDocument/2006/relationships" id="257" r:id="R43055c29f7894202"/>
    <p:sldId xmlns:r="http://schemas.openxmlformats.org/officeDocument/2006/relationships" id="258" r:id="Rfde9b77329784148"/>
    <p:sldId xmlns:r="http://schemas.openxmlformats.org/officeDocument/2006/relationships" id="259" r:id="Rd2063b79faf84a1c"/>
    <p:sldId xmlns:r="http://schemas.openxmlformats.org/officeDocument/2006/relationships" id="260" r:id="Rdcb4df024da14732"/>
    <p:sldId xmlns:r="http://schemas.openxmlformats.org/officeDocument/2006/relationships" id="261" r:id="Ra4d3727a8f6b455f"/>
    <p:sldId xmlns:r="http://schemas.openxmlformats.org/officeDocument/2006/relationships" id="262" r:id="R47906cd0d44b4dba"/>
    <p:sldId xmlns:r="http://schemas.openxmlformats.org/officeDocument/2006/relationships" id="263" r:id="R2f7926b7405b42d9"/>
    <p:sldId xmlns:r="http://schemas.openxmlformats.org/officeDocument/2006/relationships" id="264" r:id="Rab23341af4e64ff6"/>
    <p:sldId xmlns:r="http://schemas.openxmlformats.org/officeDocument/2006/relationships" id="265" r:id="Rf2749062587b4643"/>
    <p:sldId xmlns:r="http://schemas.openxmlformats.org/officeDocument/2006/relationships" id="266" r:id="R37a7c89b479f44e9"/>
    <p:sldId xmlns:r="http://schemas.openxmlformats.org/officeDocument/2006/relationships" id="267" r:id="R2a8f41cbd1e0427c"/>
    <p:sldId xmlns:r="http://schemas.openxmlformats.org/officeDocument/2006/relationships" id="268" r:id="Rba5f3d8385f14178"/>
    <p:sldId xmlns:r="http://schemas.openxmlformats.org/officeDocument/2006/relationships" id="269" r:id="R88fc33895e294c6b"/>
    <p:sldId xmlns:r="http://schemas.openxmlformats.org/officeDocument/2006/relationships" id="270" r:id="Rb3294b2253924e7e"/>
    <p:sldId xmlns:r="http://schemas.openxmlformats.org/officeDocument/2006/relationships" id="271" r:id="Ra79f1d64a1094d76"/>
    <p:sldId xmlns:r="http://schemas.openxmlformats.org/officeDocument/2006/relationships" id="272" r:id="R3b2432ddfbe842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c28dc725dd4d06" /><Relationship Type="http://schemas.openxmlformats.org/officeDocument/2006/relationships/slideMaster" Target="/ppt/slideMasters/slideMaster1.xml" Id="Refbe36122bef4f56" /><Relationship Type="http://schemas.openxmlformats.org/officeDocument/2006/relationships/notesMaster" Target="/ppt/notesMasters/notesMaster1.xml" Id="R46b0d704442e4110" /><Relationship Type="http://schemas.openxmlformats.org/officeDocument/2006/relationships/presProps" Target="/ppt/presProps.xml" Id="R1ce44470d5484684" /><Relationship Type="http://schemas.openxmlformats.org/officeDocument/2006/relationships/tableStyles" Target="/ppt/tableStyles.xml" Id="Re5b8851b1d66476e" /><Relationship Type="http://schemas.openxmlformats.org/officeDocument/2006/relationships/slide" Target="/ppt/slides/slide1.xml" Id="R2b87ee7ed0134329" /><Relationship Type="http://schemas.openxmlformats.org/officeDocument/2006/relationships/slide" Target="/ppt/slides/slide2.xml" Id="R43055c29f7894202" /><Relationship Type="http://schemas.openxmlformats.org/officeDocument/2006/relationships/slide" Target="/ppt/slides/slide3.xml" Id="Rfde9b77329784148" /><Relationship Type="http://schemas.openxmlformats.org/officeDocument/2006/relationships/slide" Target="/ppt/slides/slide4.xml" Id="Rd2063b79faf84a1c" /><Relationship Type="http://schemas.openxmlformats.org/officeDocument/2006/relationships/slide" Target="/ppt/slides/slide5.xml" Id="Rdcb4df024da14732" /><Relationship Type="http://schemas.openxmlformats.org/officeDocument/2006/relationships/slide" Target="/ppt/slides/slide6.xml" Id="Ra4d3727a8f6b455f" /><Relationship Type="http://schemas.openxmlformats.org/officeDocument/2006/relationships/slide" Target="/ppt/slides/slide7.xml" Id="R47906cd0d44b4dba" /><Relationship Type="http://schemas.openxmlformats.org/officeDocument/2006/relationships/slide" Target="/ppt/slides/slide8.xml" Id="R2f7926b7405b42d9" /><Relationship Type="http://schemas.openxmlformats.org/officeDocument/2006/relationships/slide" Target="/ppt/slides/slide9.xml" Id="Rab23341af4e64ff6" /><Relationship Type="http://schemas.openxmlformats.org/officeDocument/2006/relationships/slide" Target="/ppt/slides/slide10.xml" Id="Rf2749062587b4643" /><Relationship Type="http://schemas.openxmlformats.org/officeDocument/2006/relationships/slide" Target="/ppt/slides/slide11.xml" Id="R37a7c89b479f44e9" /><Relationship Type="http://schemas.openxmlformats.org/officeDocument/2006/relationships/slide" Target="/ppt/slides/slide12.xml" Id="R2a8f41cbd1e0427c" /><Relationship Type="http://schemas.openxmlformats.org/officeDocument/2006/relationships/slide" Target="/ppt/slides/slide13.xml" Id="Rba5f3d8385f14178" /><Relationship Type="http://schemas.openxmlformats.org/officeDocument/2006/relationships/slide" Target="/ppt/slides/slide14.xml" Id="R88fc33895e294c6b" /><Relationship Type="http://schemas.openxmlformats.org/officeDocument/2006/relationships/slide" Target="/ppt/slides/slide15.xml" Id="Rb3294b2253924e7e" /><Relationship Type="http://schemas.openxmlformats.org/officeDocument/2006/relationships/slide" Target="/ppt/slides/slide16.xml" Id="Ra79f1d64a1094d76" /><Relationship Type="http://schemas.openxmlformats.org/officeDocument/2006/relationships/slide" Target="/ppt/slides/slide17.xml" Id="R3b2432ddfbe8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e181d03ce54f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13bb671b64d16" /><Relationship Type="http://schemas.openxmlformats.org/officeDocument/2006/relationships/notesMaster" Target="/ppt/notesMasters/notesMaster1.xml" Id="R293eb9bd5edb48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b2acc585ac48df" /><Relationship Type="http://schemas.openxmlformats.org/officeDocument/2006/relationships/notesMaster" Target="/ppt/notesMasters/notesMaster1.xml" Id="Rffb37088a849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5bba14c16241b7" /><Relationship Type="http://schemas.openxmlformats.org/officeDocument/2006/relationships/notesMaster" Target="/ppt/notesMasters/notesMaster1.xml" Id="Rd1789544ca7542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5a2a8045164a9f" /><Relationship Type="http://schemas.openxmlformats.org/officeDocument/2006/relationships/notesMaster" Target="/ppt/notesMasters/notesMaster1.xml" Id="R99ca1986b1ba44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2cbbda2aba4c99" /><Relationship Type="http://schemas.openxmlformats.org/officeDocument/2006/relationships/notesMaster" Target="/ppt/notesMasters/notesMaster1.xml" Id="Rcc8dead2b3c24e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26fba1726a4aee" /><Relationship Type="http://schemas.openxmlformats.org/officeDocument/2006/relationships/notesMaster" Target="/ppt/notesMasters/notesMaster1.xml" Id="Rdd586ce3d57149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c420b90a5b49b0" /><Relationship Type="http://schemas.openxmlformats.org/officeDocument/2006/relationships/notesMaster" Target="/ppt/notesMasters/notesMaster1.xml" Id="R12ab12e5c8af4a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157c7c79164d11" /><Relationship Type="http://schemas.openxmlformats.org/officeDocument/2006/relationships/notesMaster" Target="/ppt/notesMasters/notesMaster1.xml" Id="Rab3a809a333648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3a40099240409c" /><Relationship Type="http://schemas.openxmlformats.org/officeDocument/2006/relationships/notesMaster" Target="/ppt/notesMasters/notesMaster1.xml" Id="Rd4fbce4109044c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95b8e1fc114559" /><Relationship Type="http://schemas.openxmlformats.org/officeDocument/2006/relationships/notesMaster" Target="/ppt/notesMasters/notesMaster1.xml" Id="R71c2e80e5e7b49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7a6e06cb2b40c5" /><Relationship Type="http://schemas.openxmlformats.org/officeDocument/2006/relationships/notesMaster" Target="/ppt/notesMasters/notesMaster1.xml" Id="R7a6202152ec449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54d2fa525b4197" /><Relationship Type="http://schemas.openxmlformats.org/officeDocument/2006/relationships/notesMaster" Target="/ppt/notesMasters/notesMaster1.xml" Id="R36ee61d338f64f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a8a408720f41a3" /><Relationship Type="http://schemas.openxmlformats.org/officeDocument/2006/relationships/notesMaster" Target="/ppt/notesMasters/notesMaster1.xml" Id="R820410f1bce44d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c8e8c77bc04a82" /><Relationship Type="http://schemas.openxmlformats.org/officeDocument/2006/relationships/notesMaster" Target="/ppt/notesMasters/notesMaster1.xml" Id="R4d59e4171cc841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ed86dab9ce4157" /><Relationship Type="http://schemas.openxmlformats.org/officeDocument/2006/relationships/notesMaster" Target="/ppt/notesMasters/notesMaster1.xml" Id="Rab1fb5659e4a482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5cf249dd37464b" /><Relationship Type="http://schemas.openxmlformats.org/officeDocument/2006/relationships/notesMaster" Target="/ppt/notesMasters/notesMaster1.xml" Id="R94d345fa95a04e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961fdd9ce94e15" /><Relationship Type="http://schemas.openxmlformats.org/officeDocument/2006/relationships/notesMaster" Target="/ppt/notesMasters/notesMaster1.xml" Id="R3840db1b3aec46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hasil: fondasi produk sudah ada, tetapi loop komersial belum menjadi satu state machine. Deck ini memisahkan investasi wajib, usage-based, dan media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file:///C:/Users/USER/OneDrive/Documents/Dokumen%20Binahub/website-prod/public/full-logo.png</a:t>
            </a:r>
          </a:p>
          <a:p xmlns:a="http://schemas.openxmlformats.org/drawingml/2006/main">
            <a:r>
              <a:t>- file:///C:/Users/USER/OneDrive/Documents/Dokumen%20Binahub/website-prod/public/asset/ai-globe.png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di slide ini berbasis audit repository, bukan verifikasi deployment production atau kontrak vendor aktif.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Diagram memperhalus sketsa CEO menjadi operating model. Lead adalah titik human-in-the-loop utama; Retain mengalir balik ke data konsumen.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file:///C:/Users/USER/Downloads/BinaHub%20Business%20Process.png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Apollo diposisikan sebagai penyedia data/prospecting berizin; enhanced conversions dan UTM menutup loop ads ke outcome 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https://docs.apollo.io/reference/search-for-contacts</a:t>
            </a:r>
          </a:p>
          <a:p xmlns:a="http://schemas.openxmlformats.org/drawingml/2006/main">
            <a:r>
              <a:t>- https://support.google.com/google-ads/answer/10868881?hl=en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BinaInsight harus tetap gratis dan tanpa autentikasi. Untuk program, modul BinaInsight sudah terdaftar dan assessment dapat ditautkan ke program/participant.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file:///C:/Users/USER/OneDrive/Documents/Dokumen%20Binahub/binahub-api/src/lib/pdf-service.tsx</a:t>
            </a:r>
          </a:p>
          <a:p xmlns:a="http://schemas.openxmlformats.org/drawingml/2006/main">
            <a:r>
              <a:t>- file:///C:/Users/USER/OneDrive/Documents/Dokumen%20Binahub/binahub-api/src/app/api/proposal/request/route.ts</a:t>
            </a:r>
          </a:p>
          <a:p xmlns:a="http://schemas.openxmlformats.org/drawingml/2006/main">
            <a:r>
              <a:t>- file:///C:/Users/USER/OneDrive/Documents/Dokumen%20Binahub/binahub-api/supabase/migrations/0022_binainsight_program_module.sql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Skor threshold adalah desain usulan, bukan fakta dari sistem saat ini. Sistem sekarang menggunakan hot/warm/cold pada AI dan label operasional berbeda pada admin.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file:///C:/Users/USER/OneDrive/Documents/Dokumen%20Binahub/binahub-api/src/lib/ai-service.ts</a:t>
            </a:r>
          </a:p>
          <a:p xmlns:a="http://schemas.openxmlformats.org/drawingml/2006/main">
            <a:r>
              <a:t>- file:///C:/Users/USER/OneDrive/Documents/Dokumen%20Binahub/binahub-api/src/lib/admin-mutation-schemas.ts</a:t>
            </a:r>
          </a:p>
          <a:p xmlns:a="http://schemas.openxmlformats.org/drawingml/2006/main">
            <a:r>
              <a:t>- https://trigger.dev/docs/wait-for-token</a:t>
            </a:r>
          </a:p>
          <a:p xmlns:a="http://schemas.openxmlformats.org/drawingml/2006/main">
            <a:r>
              <a:t>- https://developer.calendly.com/api-use-cases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follow-up saat ini menghitung due date dari created/result/proposal timestamps. Desain target memakai last meaningful activity dan webhook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file:///C:/Users/USER/OneDrive/Documents/Dokumen%20Binahub/binahub-api/src/lib/email-service.ts</a:t>
            </a:r>
          </a:p>
          <a:p xmlns:a="http://schemas.openxmlformats.org/drawingml/2006/main">
            <a:r>
              <a:t>- file:///C:/Users/USER/OneDrive/Documents/Dokumen%20Binahub/binahub-api/supabase/migrations/0022_binainsight_program_module.sql</a:t>
            </a:r>
          </a:p>
          <a:p xmlns:a="http://schemas.openxmlformats.org/drawingml/2006/main">
            <a:r>
              <a:t>- https://resend.com/docs/webhooks/event-types</a:t>
            </a:r>
          </a:p>
          <a:p xmlns:a="http://schemas.openxmlformats.org/drawingml/2006/main">
            <a:r>
              <a:t>- https://trigger.dev/docs/wait-for-token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blocked berarti code path ada, tetapi clean deployment dari migrations tidak menjamin seluruh tabel/kolom yang dirujuk Autopilot tersedia.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file:///C:/Users/USER/OneDrive/Documents/Dokumen%20Binahub/app-binahub/src/app/admin/engagements/page.tsx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file:///C:/Users/USER/OneDrive/Documents/Dokumen%20Binahub/binahub-api/supabase/migrations/0007_admin_tables.sql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Retain harus memperbarui Data Konsumen melalui relationship history, bukan menghapus PIC lama. Ini menjaga institutional memory saat HRD berubah.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file:///C:/Users/USER/OneDrive/Documents/Dokumen%20Binahub/app-binahub/src/app/admin/engagements/page.tsx</a:t>
            </a:r>
          </a:p>
          <a:p xmlns:a="http://schemas.openxmlformats.org/drawingml/2006/main">
            <a:r>
              <a:t>- file:///C:/Users/USER/OneDrive/Documents/Dokumen%20Binahub/binahub-api/src/lib/transformation/service.ts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Trigger.dev menjadi orchestration owner untuk journey multi-hari dan approval; Supabase digunakan sebagai system of record dan transactional outbox. Hindari dua workflow engine yang sama-sama mengontrol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https://trigger.dev/docs/wait-for-token</a:t>
            </a:r>
          </a:p>
          <a:p xmlns:a="http://schemas.openxmlformats.org/drawingml/2006/main">
            <a:r>
              <a:t>- https://supabase.com/docs/guides/queues</a:t>
            </a:r>
          </a:p>
          <a:p xmlns:a="http://schemas.openxmlformats.org/drawingml/2006/main">
            <a:r>
              <a:t>- https://supabase.com/docs/guides/cron/quickstart</a:t>
            </a:r>
          </a:p>
          <a:p xmlns:a="http://schemas.openxmlformats.org/drawingml/2006/main">
            <a:r>
              <a:t>- https://developer.calendly.com/receive-data-from-scheduled-events-in-real-time-with-webhook-subscriptions</a:t>
            </a:r>
          </a:p>
          <a:p xmlns:a="http://schemas.openxmlformats.org/drawingml/2006/main">
            <a:r>
              <a:t>- https://resend.com/docs/webhooks/event-types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Mirror menunjukkan BinaInsight juga ada di app; sumber publik utama tetap website-prod sesuai arahan. Status blocked pada delivery terutama berasal dari schema drift Automation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file:///C:/Users/USER/OneDrive/Documents/Dokumen%20Binahub/website-prod/src/app/insight/page.tsx</a:t>
            </a:r>
          </a:p>
          <a:p xmlns:a="http://schemas.openxmlformats.org/drawingml/2006/main">
            <a:r>
              <a:t>- file:///C:/Users/USER/OneDrive/Documents/Dokumen%20Binahub/app-binahub/src/app/admin/assessments/page.tsx</a:t>
            </a:r>
          </a:p>
          <a:p xmlns:a="http://schemas.openxmlformats.org/drawingml/2006/main">
            <a:r>
              <a:t>- file:///C:/Users/USER/OneDrive/Documents/Dokumen%20Binahub/app-binahub/src/lib/program-modules.ts</a:t>
            </a:r>
          </a:p>
          <a:p xmlns:a="http://schemas.openxmlformats.org/drawingml/2006/main">
            <a:r>
              <a:t>- file:///C:/Users/USER/OneDrive/Documents/Dokumen%20Binahub/binahub-api/src/app/api/assessment/route.ts</a:t>
            </a:r>
          </a:p>
          <a:p xmlns:a="http://schemas.openxmlformats.org/drawingml/2006/main">
            <a:r>
              <a:t>- file:///C:/Users/USER/OneDrive/Documents/Dokumen%20Binahub/binahub-api/src/lib/pdf-service.tsx</a:t>
            </a:r>
          </a:p>
          <a:p xmlns:a="http://schemas.openxmlformats.org/drawingml/2006/main">
            <a:r>
              <a:t>- file:///C:/Users/USER/OneDrive/Documents/Dokumen%20Binahub/binahub-api/src/app/api/admin/follow-up/route.ts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file:///C:/Users/USER/OneDrive/Documents/Dokumen%20Binahub/app-binahub/src/lib/analytics.ts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Temuan P0 dibuktikan dari route dan migrations lokal. Worker event_queue memilih pending lalu mengubah processing pada call terpisah; failed event tidak otomatis dijadwalkan ulang.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file:///C:/Users/USER/OneDrive/Documents/Dokumen%20Binahub/binahub-api/src/app/api/admin/project-autopilot/route.ts</a:t>
            </a:r>
          </a:p>
          <a:p xmlns:a="http://schemas.openxmlformats.org/drawingml/2006/main">
            <a:r>
              <a:t>- file:///C:/Users/USER/OneDrive/Documents/Dokumen%20Binahub/binahub-api/supabase/migrations/0007_admin_tables.sql</a:t>
            </a:r>
          </a:p>
          <a:p xmlns:a="http://schemas.openxmlformats.org/drawingml/2006/main">
            <a:r>
              <a:t>- file:///C:/Users/USER/OneDrive/Documents/Dokumen%20Binahub/binahub-api/src/app/api/contact/route.ts</a:t>
            </a:r>
          </a:p>
          <a:p xmlns:a="http://schemas.openxmlformats.org/drawingml/2006/main">
            <a:r>
              <a:t>- file:///C:/Users/USER/OneDrive/Documents/Dokumen%20Binahub/website-prod/src/components/chat-bot.tsx</a:t>
            </a:r>
          </a:p>
          <a:p xmlns:a="http://schemas.openxmlformats.org/drawingml/2006/main">
            <a:r>
              <a:t>- file:///C:/Users/USER/OneDrive/Documents/Dokumen%20Binahub/binahub-api/src/app/api/chat/route.ts</a:t>
            </a:r>
          </a:p>
          <a:p xmlns:a="http://schemas.openxmlformats.org/drawingml/2006/main">
            <a:r>
              <a:t>- file:///C:/Users/USER/OneDrive/Documents/Dokumen%20Binahub/binahub-api/src/lib/ai-service.ts</a:t>
            </a:r>
          </a:p>
          <a:p xmlns:a="http://schemas.openxmlformats.org/drawingml/2006/main">
            <a:r>
              <a:t>- file:///C:/Users/USER/OneDrive/Documents/Dokumen%20Binahub/binahub-api/src/lib/admin-mutation-schemas.ts</a:t>
            </a:r>
          </a:p>
          <a:p xmlns:a="http://schemas.openxmlformats.org/drawingml/2006/main">
            <a:r>
              <a:t>- file:///C:/Users/USER/OneDrive/Documents/Dokumen%20Binahub/binahub-api/src/lib/transformation/service.ts</a:t>
            </a:r>
          </a:p>
          <a:p xmlns:a="http://schemas.openxmlformats.org/drawingml/2006/main">
            <a:r>
              <a:t>- file:///C:/Users/USER/OneDrive/Documents/Dokumen%20Binahub/binahub-api/src/lib/email-service.ts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Production menggunakan Vercel $20 + Supabase $25 + Resend $20 + Calendly $10 (annual billing) + Trigger Hobby $10. Scale-ready mengganti Trigger Hobby menjadi Pro $50 dan menambah Apollo $49 serta Sentry Team $26.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https://vercel.com/pricing</a:t>
            </a:r>
          </a:p>
          <a:p xmlns:a="http://schemas.openxmlformats.org/drawingml/2006/main">
            <a:r>
              <a:t>- https://supabase.com/pricing</a:t>
            </a:r>
          </a:p>
          <a:p xmlns:a="http://schemas.openxmlformats.org/drawingml/2006/main">
            <a:r>
              <a:t>- https://resend.com/pricing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Harga yang ditampilkan adalah list price resmi saat riset. Apollo/Calendly annual pricing membutuhkan pembayaran tahunan walau disajikan per bulan; harga aktual invoice dapat berubah karena pajak dan kurs.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https://vercel.com/pricing</a:t>
            </a:r>
          </a:p>
          <a:p xmlns:a="http://schemas.openxmlformats.org/drawingml/2006/main">
            <a:r>
              <a:t>- https://supabase.com/pricing</a:t>
            </a:r>
          </a:p>
          <a:p xmlns:a="http://schemas.openxmlformats.org/drawingml/2006/main">
            <a:r>
              <a:t>- https://resend.com/pricing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https://openrouter.ai/pricing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Envelope variable adalah rekomendasi internal untuk budgeting. Angka bukan harga resmi Google/Meta atau jaminan hasil. Pengukuran 30 hari pertama harus menentukan alokasi berikutnya.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- https://support.google.com/google-ads/answer/10868881?hl=en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mengutamakan reliability sebelum acquisition scale. Trigger.dev/Calendly/Apollo dibeli saat fase yang relevan agar tidak membayar shelfware.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https://trigger.dev/pricing</a:t>
            </a:r>
          </a:p>
          <a:p xmlns:a="http://schemas.openxmlformats.org/drawingml/2006/main">
            <a:r>
              <a:t>- https://calendly.com/pricing/</a:t>
            </a:r>
          </a:p>
          <a:p xmlns:a="http://schemas.openxmlformats.org/drawingml/2006/main">
            <a:r>
              <a:t>- https://www.apollo.io/pricing</a:t>
            </a:r>
          </a:p>
          <a:p xmlns:a="http://schemas.openxmlformats.org/drawingml/2006/main">
            <a:r>
              <a:t>- https://posthog.com/</a:t>
            </a:r>
          </a:p>
          <a:p xmlns:a="http://schemas.openxmlformats.org/drawingml/2006/main">
            <a:r>
              <a:t>- https://sentry.io/pricing/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Tutup dengan keputusan, bukan fitur. Begitu enam guardrail disetujui, workflow dapat dibangun tanpa banyak keputusan ad hoc di tengah implementasi.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https://www.bi.go.id/en/statistik/informasi-kurs/transaksi-bi/jisdor/default.aspx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a93c0a2b547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2d1b0fa945449a" /><Relationship Type="http://schemas.openxmlformats.org/officeDocument/2006/relationships/slideLayout" Target="/ppt/slideLayouts/slideLayout1.xml" Id="Ra06dbf886dc34b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dbf886dc34b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9d63f49a84e30" /><Relationship Type="http://schemas.openxmlformats.org/officeDocument/2006/relationships/image" Target="/ppt/media/image.png" Id="Rb00779a5bc444e43" /><Relationship Type="http://schemas.openxmlformats.org/officeDocument/2006/relationships/image" Target="/ppt/media/image2.png" Id="R37a64bcf2cc149e8" /><Relationship Type="http://schemas.openxmlformats.org/officeDocument/2006/relationships/notesSlide" Target="/ppt/notesSlides/notesSlide1.xml" Id="R2cd76bab409345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c4f0d77ae4c73" /><Relationship Type="http://schemas.openxmlformats.org/officeDocument/2006/relationships/notesSlide" Target="/ppt/notesSlides/notesSlide2.xml" Id="Rdd26a1d31f5942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2306b914d4f4c" /><Relationship Type="http://schemas.openxmlformats.org/officeDocument/2006/relationships/notesSlide" Target="/ppt/notesSlides/notesSlide3.xml" Id="R00b60eee5c474c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330be3a4848a4" /><Relationship Type="http://schemas.openxmlformats.org/officeDocument/2006/relationships/notesSlide" Target="/ppt/notesSlides/notesSlide4.xml" Id="R11b70098a25640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fa6d732d94508" /><Relationship Type="http://schemas.openxmlformats.org/officeDocument/2006/relationships/notesSlide" Target="/ppt/notesSlides/notesSlide5.xml" Id="Rb4289e77ef5448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cd2b5ecfa4bcf" /><Relationship Type="http://schemas.openxmlformats.org/officeDocument/2006/relationships/notesSlide" Target="/ppt/notesSlides/notesSlide6.xml" Id="R3ed0043e07a04b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da52743f14211" /><Relationship Type="http://schemas.openxmlformats.org/officeDocument/2006/relationships/notesSlide" Target="/ppt/notesSlides/notesSlide7.xml" Id="R515baad1af5e44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abc512c1d4f33" /><Relationship Type="http://schemas.openxmlformats.org/officeDocument/2006/relationships/notesSlide" Target="/ppt/notesSlides/notesSlide8.xml" Id="Rc44645a58af845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551c066ff4893" /><Relationship Type="http://schemas.openxmlformats.org/officeDocument/2006/relationships/notesSlide" Target="/ppt/notesSlides/notesSlide9.xml" Id="R6ccb687f921e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925d9006d4de2" /><Relationship Type="http://schemas.openxmlformats.org/officeDocument/2006/relationships/notesSlide" Target="/ppt/notesSlides/notesSlide10.xml" Id="Rc5ad07a60ebf44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ce9603e814898" /><Relationship Type="http://schemas.openxmlformats.org/officeDocument/2006/relationships/notesSlide" Target="/ppt/notesSlides/notesSlide11.xml" Id="Rb538d03c40964a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931f76a7246eb" /><Relationship Type="http://schemas.openxmlformats.org/officeDocument/2006/relationships/notesSlide" Target="/ppt/notesSlides/notesSlide12.xml" Id="Rb9c98010bf904d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2acf280324c44" /><Relationship Type="http://schemas.openxmlformats.org/officeDocument/2006/relationships/notesSlide" Target="/ppt/notesSlides/notesSlide13.xml" Id="R7d2886123ed64b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f548026c34f34" /><Relationship Type="http://schemas.openxmlformats.org/officeDocument/2006/relationships/notesSlide" Target="/ppt/notesSlides/notesSlide14.xml" Id="Rb5884724826b4f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54549db9948c1" /><Relationship Type="http://schemas.openxmlformats.org/officeDocument/2006/relationships/notesSlide" Target="/ppt/notesSlides/notesSlide15.xml" Id="Rab29487db02c46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10a7cd08c4027" /><Relationship Type="http://schemas.openxmlformats.org/officeDocument/2006/relationships/notesSlide" Target="/ppt/notesSlides/notesSlide16.xml" Id="R5e753140753342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4cfd9ba1e4c9c" /><Relationship Type="http://schemas.openxmlformats.org/officeDocument/2006/relationships/notesSlide" Target="/ppt/notesSlides/notesSlide17.xml" Id="R8df22b61a1cf47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241F6-D39A-4A5C-B55A-B60FC4B3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CEO DECISION DECK · 24 AGUSTUS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CED17-8B91-4DFA-BFF5-D3E45B0D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28700"/>
            <a:ext cx="5334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BinaHub AI</a:t>
            </a:r>
          </a:p>
          <a:p xmlns:a="http://schemas.openxmlformats.org/drawingml/2006/main">
            <a:pPr algn="l">
              <a:defRPr sz="4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Business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BBA58-0C8E-4A4B-88DA-9D6E850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5238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Workflow end-to-end, kesiapan sistem, stack, human-in-the-loop, dan investasi bulanan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D0B6D-BD9F-4609-8065-4C848C68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5238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CABE3-9C28-4864-99F9-FA711C0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TUJUAN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6A84B-B7F7-4AA7-9DD0-954CC57F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Mengubah enam tahap bisnis menjadi satu loop yang terukur—AI menangani volume; manusia menjaga keputusan bernilai tinggi.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17A55-AA27-4D25-84C1-EFF6731E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"/>
            <a:ext cx="5638800" cy="56007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779a5bc444e43"/>
          <a:stretch xmlns:a="http://schemas.openxmlformats.org/drawingml/2006/main"/>
        </p:blipFill>
        <p:spPr>
          <a:xfrm xmlns:a="http://schemas.openxmlformats.org/drawingml/2006/main">
            <a:off x="6496050" y="704850"/>
            <a:ext cx="4953000" cy="4953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7FCBE-6726-4C2C-91C4-626E6AE5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19150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BD4C4-8148-4BEC-941A-F1E68028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2867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→ PROSPECT → LEAD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BF324-DF49-4F3B-AC9D-B882F8C2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057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A59D91-A87E-460E-A1B0-0B1C0FD8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906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FOLLOW-UP → CLIENT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E1FA3-09D5-4475-8F64-74A6A4DE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31B14-B783-4012-9662-B52BEE07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6252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RETAIN → DATA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64bcf2cc149e8"/>
          <a:stretch xmlns:a="http://schemas.openxmlformats.org/drawingml/2006/main"/>
        </p:blipFill>
        <p:spPr>
          <a:xfrm xmlns:a="http://schemas.openxmlformats.org/drawingml/2006/main">
            <a:off x="644638" y="5943600"/>
            <a:ext cx="1606323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57A85-89B3-4EDE-8CE5-A47B784B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539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Disusun dari audit code-based: app-binahub · binahub-api · website-prod</a:t>
            </a:r>
          </a:p>
        </p:txBody>
      </p:sp>
    </p:spTree>
    <p:extLst>
      <p:ext uri="{BB962C8B-B14F-4D97-AF65-F5344CB8AC3E}">
        <p14:creationId xmlns:p14="http://schemas.microsoft.com/office/powerpoint/2010/main" val="1000859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98B71-DC34-41F9-98FF-2EEB8979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RINGKASAN EKSEKUTIF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1C686-E7D2-42A7-BB4E-0E041309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625C6-0412-4898-B8F1-EDAF3B9F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D3CB6-42C5-4293-ABFB-EDB56ED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Fondasi siap; mesin pertumbuhan belum tersambung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2D180-C2BC-4517-97B1-5717573C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Keputusan terbaik bukan membeli semua tools sekaligus, melainkan menuntaskan satu vertical slice yang dapat diukur.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92699-5593-47F9-A323-42193E63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40D3B-D225-4DEB-88E4-09D4970A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SUDAH SIAP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44471-DFED-47C2-A116-26B9B055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90F19-9098-48F0-A71D-3D79B838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BinaInsight publik, scoring, PDF + email, admin assessment, modul program, engagement dan delivery dasar.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C402F-B26D-4736-8FB3-2CA1C4B1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B8DDC-3D43-4A1D-941B-433102BB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PERLU DIPERKERAS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324C0-F084-4788-A4B6-4E4EE33D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C537E-175A-42D5-8968-72538B4C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Lifecycle/status, schema migrations, event worker, contact/chat reliability, stop condition follow-up.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52486-B678-48B7-B929-139EC2E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56235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BEBF1-B78F-4C5B-A816-63FF7CC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002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PERLU DIBANGUN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D0AE7-AE49-472E-98E4-3EE5637E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GROWTH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BEC82-3F6E-4023-8239-9CF7765F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4800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Attribution, Apollo workflow, Calendly webhook, pricing configurator, client health dan retain playbook.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FD9BF-29CF-40A9-821B-006E0CCC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3919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EC7E5-089A-426B-A93D-FE7108EB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REKOMENDASI CEO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301C9-C335-4CD9-923C-29AAD3D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6735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Setujui anggaran core ±Rp1,50 juta/bulan; selesaikan P0; lalu hidupkan funnel Data → Prospect → Lead sebagai pilot 90 hari.</a:t>
            </a:r>
          </a:p>
        </p:txBody>
      </p:sp>
    </p:spTree>
    <p:extLst>
      <p:ext uri="{BB962C8B-B14F-4D97-AF65-F5344CB8AC3E}">
        <p14:creationId xmlns:p14="http://schemas.microsoft.com/office/powerpoint/2010/main" val="947731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E8A943-C09F-4ADF-8CDA-28665A71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7A912-9BFF-4493-9A3F-86BEBF17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742A0-1748-4E90-81B6-3A220E19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83092-BEC3-48A2-B035-B3F8F18B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Satu loop, enam tahap, satu sumber kebenaran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001D6-61A0-4E05-9433-C332073E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Lifecycle bergerak otomatis; AI menjadi pekerja spesialis; keputusan custom/high-value tetap melewati human 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9783A-E50A-465D-BE83-1EA3D0A8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61097-7BAE-4BDE-B70C-A4BF8D79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15D5F-8C71-4774-B2F2-F6F08AA7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 KONSUMEN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04494-EE21-4F58-B907-44C14C4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Awareness + ICP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73887-1523-40F5-96AC-8C5A76E9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157F5-ED93-4FCF-BA12-6B49E331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CDEB0-D2F8-435F-9E9A-734AC63A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2EAC6-6008-433D-B7C0-ED982246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97330-6986-48A0-BE49-9CB5ABDD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Assessment selesai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1B0945-439F-4BF4-802C-D7C9D8E6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B281C-464E-4399-B636-5B3E7248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D18E0-090B-46B1-ADA4-31F6FD76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D3B37-0D4B-4CB4-851C-678BAFE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6ECA5-F1BF-4675-A8D2-66A2B772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Qualified opportunity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59AE3-DEC4-485A-BFD8-0AC3B4FD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BCB23-38EB-411A-86A4-38512733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703F6-C188-4A4E-8025-B716E8C0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4BE19-17B5-472C-9120-5FBEC1BB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FOLLOW-UP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4E5E4-7435-4875-87AD-38DBA51A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No-response recovery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D1421-2901-443D-9B5F-3A2E55B7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13A0B-6FAD-4C14-BF96-517BE486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6D6B6A-41FF-4BE1-AFF9-EB2A7FC9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81622F-8F69-43E1-A598-ADCDD6E7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65E07B-9277-448F-87DE-5B746FA0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Won +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E87933-88CD-4EC3-8B60-6ED83BE9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00350"/>
            <a:ext cx="76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D588F3-A0D0-43DE-8CCD-64B5EB0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095500"/>
            <a:ext cx="1800225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E5662-C372-4C4D-831F-91161E3C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2479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EF5A10-BF7D-41AE-8807-67ACD56E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86050"/>
            <a:ext cx="1457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C8B2AE-D024-4FEE-9876-AFAFF35D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200400"/>
            <a:ext cx="1457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Health + repeat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D6D8D3-C9F7-4C02-8445-22F3BC30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AA21CF-F4AA-42E7-B98F-B6440677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049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548877-A3F4-484D-B517-D4887BE7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954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standard = otomatis · custom/high-value/low-confidence = persetujuan</a:t>
            </a:r>
          </a:p>
        </p:txBody>
      </p:sp>
      <p:cxnSp>
        <p:nvCxnSpPr>
          <p:cNvPr id="86" name=""/>
          <p:cNvCxnSpPr>
            <a:stCxn xmlns:a="http://schemas.openxmlformats.org/drawingml/2006/main" id="6" idx="2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1300163" y="3695700"/>
            <a:ext cx="9572625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0B2C6B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1C2F01-8CC8-4D3E-A785-77FE5294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767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Feedback loop: perubahan PIC/HRD, outcome program, renewal signal, dan referensi memperbarui Data Konsumen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5DAAEF-1173-4700-9F5C-77060696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7C9912-8076-4B67-8959-A0F7EAE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Mesin penggerak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20153C-F7B0-4E2A-AAF7-AD307272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Event + state machine + audit log; bukan sekadar cron dan rangkaian if/else.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5C7202-F937-4ABC-A745-415E5748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379C9F-C863-4FDE-8D93-A03960FE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Batas AI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6B682E-A50E-472B-A689-9D2CDC3B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mengklasifikasi, menulis, dan meringkas. Harga, diskon, dan transisi status ditentukan rules.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1E83DF-5236-4518-A827-C3D8CEED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5623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C62A94-FA6F-449F-ABFB-22E24D65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720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Sumber kebenaran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AC2438-5936-4B22-AE8A-6418B77C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372100"/>
            <a:ext cx="3181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Organization + contact history + opportunity + engagement + activity timeline.</a:t>
            </a:r>
          </a:p>
        </p:txBody>
      </p:sp>
    </p:spTree>
    <p:extLst>
      <p:ext uri="{BB962C8B-B14F-4D97-AF65-F5344CB8AC3E}">
        <p14:creationId xmlns:p14="http://schemas.microsoft.com/office/powerpoint/2010/main" val="3164805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E2EDAB-420B-42F1-B748-B87F42DB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1 · AWARENESS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D4EE7-E9F3-49C4-806D-D28C15A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53A77-5696-46DB-B825-D90B0A01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CDD14-4523-408A-8B74-CD98021B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Data Konsumen: traffic yang dapat ditelusuri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BA67-1FEA-48F4-89D3-A6A1888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membangun audience ICP-fit—bukan sekadar daftar email—dan mengarahkannya ke BinaInsight dengan consent, attribution, dan deliverability yang terjaga.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44737-AAA8-42DB-BBDD-116963EF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2486F-4188-4D83-9E55-84B9AC06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SEBAGIAN SIAP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05D0F-A7F8-4457-A225-2C494729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Landing `/insight` dan contact path ada; acquisition data pipeline dan attribution belum 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75291-6D75-4B49-A93D-D9DD891B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698B6-490A-4CF2-A63B-83B683B5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C963F7-251F-4817-869C-1F32B2B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Ads / referral / Apollo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CC82D-712E-4570-89A7-49DA2037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41EB1-BA06-4E03-9CFB-42259CE5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6A6060-172C-40B8-9CDD-CEDE09AB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02205-9565-4C7B-9619-18EEA49E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Consent · dedupe · enrich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B65A4-2604-4EBA-B41D-933086B9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38F07-E234-4457-B649-2E5F8EF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C189E-741F-4586-BB60-CAB2260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665634-F2CA-4DF3-84F6-C1717FFC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Personalized outreach + UTM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72E08-268C-4376-BCE3-FAF633FA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FB601-DE1F-4EE0-BEF5-69370462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FD0AB-7644-4DCC-94C2-641CA677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F9AA5-9F9A-4955-AF06-C055953D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Landing BinaInsight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7BED7-0533-48EB-B4EB-B04B21D8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FAABD-EF7B-4EA7-9898-6C8EADC4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6D79A2-89B0-4683-B54E-8BA53D48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Segmentasi industri, ukuran, peran, dan pain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Riset akun + personalisasi pesan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Deduplikasi dan suppression check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Optimasi audience dari conversion signal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F9BFA-DE00-46DD-927F-C892D64A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AFE951-CCDF-4BBD-835B-EE8D2C1F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7A96B-2293-4DAE-95D0-C6A6C39C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Menentukan ICP dan exclusion list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Menyetujui claims iklan dan email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Menjaga etika penggunaan data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deliverability dan kualitas lead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AF7D2-AD7E-4A7A-8D47-5E63384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734B34-DC24-4E30-865B-87A015F6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E7FC59-D3AF-4C7B-8FB9-B53576AC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Google/Meta Ads · Apollo · website-prod · UTM · Resend · Supabase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9B3BA-B654-4366-AFEC-C8E70377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9A5DBA-A334-4DBA-8817-EA0203F3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FFE47F-6311-4594-921C-DE0A031F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 events, consent/suppression, enrichment worker, domain warm-up, dan policy penggunaan data.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C85F0-5F37-409B-BD87-D0622B3A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165334-B515-4B8E-AB47-AEF1177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C62B29-DE6B-47FE-9562-FEE8982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Qualified visit rate · assessment-start rate · cost per completed assessment · bounce/spam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F14CA4-1D47-4E7A-86D5-F47368B8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Guardrail: jangan mengandalkan scraping Google/LinkedIn tanpa jalur resmi, izin, dan kebijakan data yang jelas.</a:t>
            </a:r>
          </a:p>
        </p:txBody>
      </p:sp>
    </p:spTree>
    <p:extLst>
      <p:ext uri="{BB962C8B-B14F-4D97-AF65-F5344CB8AC3E}">
        <p14:creationId xmlns:p14="http://schemas.microsoft.com/office/powerpoint/2010/main" val="1106469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C75D17-2A95-4F47-B88A-15498069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2 · PROSPECTING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088F9-3B05-499C-A531-B8C45A6E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9C152-69C2-4083-8BDC-CB57B689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664E5-C88E-446F-BF5C-24F7AF67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Prospecting: assessment gratis menjadi intent signal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79019-83DA-4E62-86D3-90B61DD6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mengubah pengunjung anonim menjadi prospect yang telah memberi data, konteks kebutuhan, dan izin untuk ditindaklanjuti.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F501A-5085-4D24-B8CB-B468410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DF165-09B8-4387-9EF6-63BD46C2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SIAP +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50F1C-CC15-4338-955A-AA762C59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Assessment publik, scoring, PDF, email, dan proposal request sudah ada; configurator harga belum 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4AE10-A962-4B03-BBD2-AB41DFA3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23DCF-B343-4288-A00A-C6F232E9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800BF-8655-4F79-8E10-65F9BA7A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Mulai tanpa 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72A98-AB5F-44C7-9824-40EB6C66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B9744-1E2A-4CC2-8A53-8023F998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7D0C1-D82A-4B4E-93A6-4DF2FE4B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65C494-2653-4D70-8F8C-46219B70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+ jawaban + UTM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D3702-E544-4A80-9B57-365F6E43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6584C-01DE-4471-AD45-8BD5C8AE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7559A-FF8F-42B4-B256-0C98FEB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46784A-0618-4A3C-8EEE-73851664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Score · PDF · email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AE6D74-3A63-4DF0-B714-76090030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A349F-1F98-47A4-ADB1-65B85976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F7F01-7C10-4059-BC28-5163E835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60D1A2-75C9-4E78-9D2B-965568F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 / konsultasi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FC25E-5C88-4390-9097-15F4453B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1B7FF-533F-4B7F-AE8F-BC22CBC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4B136E-EC6D-47E1-B016-861679FD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Analisis hasil 7 dimensi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Ringkasan, risiko, dan rekomendasi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Lead temperature awal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Rekomendasi modul berdasarkan kebutuhan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D2928-9AA3-46AD-8956-BBFBB18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4D9BBB-F001-471A-BFC4-C72671E7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0B853-1E48-466D-8719-46C4A1B8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Tidak perlu untuk kasus standar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jika confidence rendah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Validasi kebutuhan custom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Menjaga katalog modul dan narasi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C38C13-D437-4308-A056-EB8A1AD5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5779FC-298D-48DE-80E8-D62435561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34B54C-79D6-44FB-99D2-8BBA145F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website-prod + app-binahub · binahub-api · Supabase · OpenRouter · Resend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BD3DF3-DD20-4B17-AA7E-3274CFA8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333F65-1DFA-42A9-A7C9-1D22C28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0EB862-26C0-4062-8612-5B68A2AA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Capture UTM/source, proposal configurator, price catalog/version, deterministic pricing, dan Calendly CTA terintegrasi.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8F24A6-9315-482D-8AEC-9B52984F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A9A9A0-F02B-42C2-8420-6F390C22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4BAE4A-487D-4AF6-AABA-CE81D80D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Completion rate · valid-contact rate · report delivery rate · proposal-request rate · booking 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C51F59-BA81-408F-A247-8CAF6293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Prinsip: AI boleh merekomendasikan paket; rule engine yang menghitung harga dan diskon.</a:t>
            </a:r>
          </a:p>
        </p:txBody>
      </p:sp>
    </p:spTree>
    <p:extLst>
      <p:ext uri="{BB962C8B-B14F-4D97-AF65-F5344CB8AC3E}">
        <p14:creationId xmlns:p14="http://schemas.microsoft.com/office/powerpoint/2010/main" val="2126877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C386BF-D063-46E6-857A-96690DC3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3 · LEAD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880D4-4467-43DC-8462-04F08CFA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483C7-ACE3-41FC-B12C-EB6FC761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082CC-C6B9-4568-AB82-A6EABE3F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Lead: otomatis untuk standar, human gate untuk custom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0DA05-A809-43C4-BB6A-6E1592C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memprioritaskan peluang serius tanpa membuat CEO menjadi bottleneck untuk seluruh proposal dan konsultasi.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57EEB-E99D-424A-9AAC-9D25365F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C6D27-8A8F-4583-AD25-1840DE24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PERLU REDESAIN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C1A29-9DAA-4ADC-9748-94B640E6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hot/warm/cold ada, tetapi bercampur dengan lifecycle status dan belum menjadi routing engine.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1374E-80D1-459B-ADB8-36A99F94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ACA92-A0D4-4E1C-ADC7-453BB496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3B2C4-B3B4-4083-B11C-7AE16548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Score fit +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D0F808-9853-42E3-BCC8-FA3E185F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433C9-DF53-45A7-B283-8323947E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2A123-5EB2-42CB-8FF3-177148B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B1D1C-530C-4397-BE8F-802379BC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Route cold / warm / 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47F95-EE98-487E-8915-36BC1D7E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58CC5D-8693-4516-B1D4-49A86E3A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E55EE-6131-48AA-A9FE-863CD22F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083B7-F343-48C8-978A-CC692CC8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Standard vs custom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91DBB-E43D-4DC6-A2B2-97222C54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14077-CB02-4121-A4EF-33713753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1708D-3235-4768-BAEF-152DCCFA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FDE20C-DFE8-4171-8C65-920C9A74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 + Calendly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447D05-7951-4330-B045-0A2930DA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1C512-C77D-4195-BD18-3871F893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6497B9-9440-4E73-B46B-2747E894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Skor fit, intent, urgency, engagement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Susun brief konsultasi + standard proposal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Sarankan next-best action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Buat reminder dan ringkasan meeting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5B08E7-5694-4DA6-A192-3B898B28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7DA40-35A5-4C69-9031-585C4B65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075C7-0C9B-4DD9-852E-06DD6CB8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Custom scope atau diskon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High-value / reputational risk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Confidence rendah / data konflik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Negosiasi dan keputusan komersial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CC00BE-252E-4EDB-A2CD-C509B3BA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1069CA-D743-48AC-B92F-B66172C7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5E161-3E28-40AF-98E7-BE0FDE4C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Lifecycle state machine · OpenRouter · deterministic rules · Trigger.dev · Calendly webhooks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14BC0B-C97C-4DC9-83AD-319950CC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B4A3F1-179E-4EE7-A54A-01F7F91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EA8788-78E7-44E8-88FE-3B68336A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Pisahkan lifecycle_stage, lead_temperature, dan opportunity_stage; thresholds; pricing guardrails; meeting webhook.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F0B645-7610-422D-AE19-901A6901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B3DE71-2270-4233-B367-8FFBB4C4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4F513-29F3-4FCA-BD09-853C8E6F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Speed-to-lead · acceptance rate · meeting show rate · proposal cycle time · win rate by temperature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97857-0807-4B89-89E7-3C218A0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Rekomendasi awal: Hot ≥75 · Warm 50–74 · Cold &lt;50; kalibrasi ulang memakai outcome 90 hari pertama.</a:t>
            </a:r>
          </a:p>
        </p:txBody>
      </p:sp>
    </p:spTree>
    <p:extLst>
      <p:ext uri="{BB962C8B-B14F-4D97-AF65-F5344CB8AC3E}">
        <p14:creationId xmlns:p14="http://schemas.microsoft.com/office/powerpoint/2010/main" val="13310548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D79794-8E82-4D7B-BD24-5A3D51B7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4 ·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55CBA-2821-4E18-A150-DBE64B0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5F7E1-A2EC-4812-A7B4-9E7288AE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0EE2F-EAC5-4DEE-972E-9708124B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Follow-up: dipicu aktivitas terakhir, berhenti saat ada sinyal nyata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E2C28-03EA-4F64-8FED-C9A175EA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menyelamatkan peluang yang diam tanpa spam, pengiriman ganda, atau pesan yang terus berjalan setelah meeting/deal.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F92F7-8A81-41FA-A959-05EE43D2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8E6"/>
          </a:solidFill>
          <a:ln xmlns:a="http://schemas.openxmlformats.org/drawingml/2006/main" w="9525">
            <a:solidFill>
              <a:srgbClr val="FFF8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D13C2-1B39-4310-A0A9-16A0ED6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FONDASI 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BFF7E-A206-40C2-BFE7-420949D7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H+2/H+7/H+14, pause, claim/dedupe, dan Resend ID sudah ada; event feedback belum lengkap.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D34894-C36D-46B5-BBA5-C3E4CCAB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BE885-9879-4165-B1C4-4AEC916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D167D-EA99-4D77-AB8B-BF034FDD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Anchor activity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C0CD8-DFC7-4E47-9211-36C8B71C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622B5-A90E-45AF-9C79-F9A00ED5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616B9-803A-4C1F-9809-21396AD5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2AF62-88E0-4189-9440-89E10BBC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Wait H+2 / 7 / 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96F73-9B79-47AC-A309-C74A6709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4B962-BCB6-4AD7-B1C7-CED8BE2B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19386-0916-49B1-B821-AC34BFD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FD589-3CDE-4D15-91BE-B6788FEC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Generate +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CEA710-2AF5-4C60-8B9F-6C95EDE7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1C359-8646-4CB5-8ED2-5C76D29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BC3C29-B212-4E6F-B65C-7CDF539F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E2CE6-67DB-47A3-BB27-B9A21AC3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Observe reply / booking / stop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2D811-9232-4224-96F6-B9D7EE80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1E52D-BCDB-4BE9-9619-9B166EEA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41C30-ACEC-46AC-AA53-55298444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Menulis pesan sesuai konteks &amp; tahap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Memilih intent follow-up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Merangkum history untuk sales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Mengusulkan kanal berikutnya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85E3B-D75D-4D70-9CAA-1B99DDCB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28BC5-C42F-41D7-AEAE-1B09D94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B2C573-66C7-4257-8C6D-9E1C755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Ambil alih bila prospect membalas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Review custom objection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Pause untuk hubungan sensitif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Konfirmasi lost / closed reason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7C3224-549C-4FC8-8FC3-77A9889A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F8D9E1-6323-4DF3-B1C8-88206F2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C6440-B969-428E-A5DB-22BCF30F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Resend webhooks · Trigger.dev wait · Supabase audit/activity · Calendly events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92AB87-3855-41E6-8D7C-15DD2C7F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29D3D5-AE0F-46DE-86A2-FE6E3EAB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906813-7AFC-4723-AAB6-86845C8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Inbound reply state, unsubscribe route, suppression list, last_meaningful_activity_at, scheduler production, dan retry/backoff.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9D5160-0BA8-4D31-A79A-4F086E3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E6929-705C-48E5-BEFC-6E8DA3C0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5A38BF-AF00-4426-B9A4-0ED18AA7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Reply rate · booking-after-follow-up · unsubscribe/spam rate · duplicate-send rate · recovered pipeline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3373F2-175D-4F9C-B0AC-508A9B52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Stop conditions wajib: reply, meeting booked, revision, won, lost, closed, atau suppressed.</a:t>
            </a:r>
          </a:p>
        </p:txBody>
      </p:sp>
    </p:spTree>
    <p:extLst>
      <p:ext uri="{BB962C8B-B14F-4D97-AF65-F5344CB8AC3E}">
        <p14:creationId xmlns:p14="http://schemas.microsoft.com/office/powerpoint/2010/main" val="1267578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CACF97-6574-434B-848B-EA5B6343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5 · CLIENT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0CD73-6E3C-45AD-9C67-55D6E6F6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0C24A-A203-4856-A28D-01CE4EE4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1B1DA-555A-48BE-8D25-7752455A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Client: handoff komersial langsung menjadi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A43F5-47D3-4339-9059-E9028D2F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begitu deal, data tidak diketik ulang dan project langsung memiliki owner, scope, milestone, participant, serta modul yang benar.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2CF93-245B-4947-A8EF-238F96F9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12719-80AA-4B21-8F36-200F6BBF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KUAT, TERBLOKIR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57C1A-9729-453F-9E0F-EE2917E2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Engagement/program/modules dan Project Autopilot ada; sebagian schema Autopilot tidak direproduksi oleh migrations repo.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29A52-8406-4510-9C3C-B239D963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D5BFD-54E3-42C1-AE15-E9E8151B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DBCA4-EF47-4B7D-95EE-61059295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Won opportunity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9A721-3BD4-4690-AEB5-D2850154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FA8CD-8FA5-4472-961C-DFF7869A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DCD0FC-49B6-4649-B716-098E6AC0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DF533-8403-4AE2-B1F5-8F9E8487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Organization + contact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55A74-9567-4C3D-B328-720013C0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0EC86-3D23-4BD5-9DF6-D8929C15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C9230-427C-4DA8-BED1-AC2FDAD2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1568FB-76EC-47AD-8385-2A38F99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Engagement + program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61377-3AC3-46E9-80C0-587B0A9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FE0B74-439C-4013-B8CB-E13C58BF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2F439-3955-459F-8640-95CC4125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9C441-0C97-42CE-A26B-83A428D0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Project + 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B49DC-DD8C-426E-A798-2E5420A1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D1D745-EBAA-41DD-AA93-2D5BA887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343559-A60F-4133-89AA-0A2C6EB7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Draft plan, roles, milestones, dan dokumen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Cocokkan facilitator/coach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Buat kickoff brief dan risk flags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 evidence dan progress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9E78F-161D-466D-B34A-6A8C25E6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A3A94-293F-4E10-84CF-0AFF3FA6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F1FD15-FFFE-4362-B3E0-E13C0C26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CEO menyetujui SOW/custom scope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PM menerima AI plan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Admin mengonfirmasi resource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Facilitator mengubah draft menjadi delivery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48057-F7D2-4EC1-A8B5-91AD33CD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CF5CAC-27A1-4172-9CAE-BE5B304C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DA69AA-C1E5-4645-9A68-B66B9F5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app-binahub admin/client · binahub-api · Supabase · Project Autopilot · TBOS/LEP/BinaInsight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3225ED-80B1-4C8F-8A90-39C72AA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697755-5C2E-4635-ABC8-6D51A535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C67629-0DF8-4BFD-B13E-01C23B9C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drift: project_roles, generated_documents, communications, automation_events dan beberapa kolom tidak ada di migrations.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BAAA86-BA2D-41CA-B403-108242AD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8998F6-FD1E-4DBD-BDF1-BFC6C8E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DC7686-5909-419C-BC12-7108E098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Won-to-kickoff time · project setup error · milestone on-time rate · participant activation · margin variance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8F9FB3-F076-48EA-A2FF-98EB5615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Prioritas P0: jadikan seluruh schema Automation Center reproducible sebelum menaikkan volume sales.</a:t>
            </a:r>
          </a:p>
        </p:txBody>
      </p:sp>
    </p:spTree>
    <p:extLst>
      <p:ext uri="{BB962C8B-B14F-4D97-AF65-F5344CB8AC3E}">
        <p14:creationId xmlns:p14="http://schemas.microsoft.com/office/powerpoint/2010/main" val="206799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6C6D8B-8317-494B-8F92-C3883E39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TAHAP 6 · RETAIN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10463-E485-4A03-B6AC-55F2CE20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A8EE2-1CA4-4C0B-B720-921CB53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824D5-9752-4CE1-9F18-22DB9205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Retain: health, relationship, dan next opportunity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2E2D5-367D-49DF-88F6-27C6A545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Tujuan: menjaga value setelah delivery, mendeteksi perubahan HRD/PIC, dan membuka repeat order tanpa kehilangan konteks hubungan.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DBC16-0817-45AC-8726-467192BE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F52E6-F51E-432C-AE00-15174294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906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BELUM 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C7C62-018B-48B3-ACF8-C79C6A9D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571625"/>
            <a:ext cx="584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Evidence, outcome, dan engagement tersedia sebagai fondasi; account-health dan playbook retain belum menjadi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7965D-44A7-4E68-BBA4-BB21BE3E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01149-5D2A-436D-86BA-934A751B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C38D5-66DB-4A25-89F7-E6E81AA3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Delivery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ADE70-C18C-42FB-B331-4E11D6DF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313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F34BE-79EC-48FF-825E-F4DB25FA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9B007-1235-424B-A190-359C6E59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9BEF2-DB37-4F82-AFD2-CF32F1FA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Health + sponsor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1ED60-46AC-412D-8AA6-5363562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ECD0DF-8322-4A32-99ED-03F8FA93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F7B5D-EC50-4C13-AD7A-BF833716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49026-874F-416B-9A49-14E3779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Quarterly value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9C57A2-47E7-430C-8910-03CFBCF9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6438" y="2400300"/>
            <a:ext cx="952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8CC5CE-2AE4-4F19-9B81-0A518B17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076450"/>
            <a:ext cx="1700213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8C509-AE00-4CE1-9AD5-C04D23D9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1717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A955B-6A82-4896-8722-C35D1316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2371725"/>
            <a:ext cx="147161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Repeat opportunity →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7C3CB-4F72-4114-B0DE-09F535C0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EDF4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6F39A-33DC-4ADB-B1D6-E0ACEDED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 agent mengerjakan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3C7DAD-80D6-472C-8601-B152EE77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Health score dan churn/renewal signal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Ringkas outcome dan value delivered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Deteksi contact/PIC yang perlu diverifikasi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Sarankan next module dan timing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EF153-CF1D-4047-862C-3AEAC8A6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81350"/>
            <a:ext cx="3514725" cy="22479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FFF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5C314-D176-4876-A820-0074106E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90900"/>
            <a:ext cx="3133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Sentuhan manusia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5DABB7-D19C-4080-9364-C11C5C5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90950"/>
            <a:ext cx="31337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Executive relationship dan QBR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Validasi perubahan HRD/PIC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Menyetujui case study/referral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Membuka opportunity baru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7D3E58-0C6B-45A7-8870-A82DD542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81150"/>
            <a:ext cx="39052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55817-DDD8-4B6B-A97D-5971DC38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9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4C7A5A-B943-4371-AEE1-B48E1F3A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Organization/contact history · activity timeline · BinaImpact/outcomes · NPS · workflow engine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53CDCF-3C13-458F-BECD-457BA021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9052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76D15-1191-4B11-900B-4247A85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Yang belum siap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C8CB93-2CC6-43B7-99DB-514C64C9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052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Contact-role history, health model, QBR template, renewal/referral playbook, repeat opportunity, dan data freshness job.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966B9E-5EAB-408D-BF3B-33221862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05300"/>
            <a:ext cx="3905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1BC059-3EE0-453C-9787-ABFC7C52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KPI tahap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5155A-EEF9-4659-A7F7-88FF3ED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149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Account health · renewal/repeat revenue · sponsor coverage · NPS · referral rate · contact freshness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D5CD5F-CDA1-436B-B7AD-0AABA1D3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 data: contact tidak ditimpa; simpan peran, effective_from/effective_to, dan sumber verifikasi.</a:t>
            </a:r>
          </a:p>
        </p:txBody>
      </p:sp>
    </p:spTree>
    <p:extLst>
      <p:ext uri="{BB962C8B-B14F-4D97-AF65-F5344CB8AC3E}">
        <p14:creationId xmlns:p14="http://schemas.microsoft.com/office/powerpoint/2010/main" val="66046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060D93F-2A85-4C3A-8110-EC934EA1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TARGET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7E636-2B87-4A67-A0C3-B8B4CF80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D361A-7FAD-4190-BED9-7C0ABF05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3999B-258F-4A00-9E85-D7179906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Stack target: satu control plane untuk seluruh 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A8A8B-EEA5-44F8-8958-3392DEEC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Gunakan stack yang sudah ada sebagai core; tambahkan orchestration, calendar, analytics, dan prospecting secara bertahap.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B443C-5988-4D7F-9B5A-8762E5F4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383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4CBFE-F8D6-4CA2-BD80-E2FF5936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71282-C11F-40E1-BC13-BF9D53CF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765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776A9-12CA-4F87-A06B-3E0505B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765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E6D26-535E-4332-8D05-D714C059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59DCF-09B7-4803-85EF-D52AAF3D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5B4EB-3790-476D-9EA4-6BC14CD4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52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SPECIALISTS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B60A2-B10F-43BD-A68F-06F73F81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A18477-AF61-40BB-BD72-119867E6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DATA + 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D8D89-3FD5-45FF-862E-7F62C5BE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8F90A-CA01-429E-8F4F-602ABBB2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44823-A19B-4BAF-9825-BF92DF60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Google / Meta 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3F719-F990-4DD8-A6CD-A93A4325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paid acquisition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C6C94-1DEA-450E-A217-74EC7D98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E54AA4-9C2D-4EAA-B312-AF711101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Apollo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9BC7F-F1FF-473C-8283-649135DD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authorized prospecting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7B7AA-7022-4F78-B632-DAD9B2CD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14F69-E2DA-4D78-9A01-3055323E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Referral / Owned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CAB018-FF1E-442A-8333-05F0B039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organic &amp; partners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534473-DAA4-49F3-9B40-233D4753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8B5A93-1F2C-42C6-80B6-1677AB7D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669AF-07AD-4938-AAB0-7EB2E4D1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outbound / nurture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D43A7-0BF8-4FCC-8518-2CAC2C50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192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98FB4A-D843-4387-816F-0F06277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14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Calendly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20BCC-458D-4EDC-8857-F8A4D87F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431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consultation booking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05B65E-AA7A-46C7-96C1-5A043FC2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028632-2CDA-4ED4-80DF-B81E30BC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52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website-prod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592ED-5074-4488-8EC8-90E498AA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company profile · /insight ·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05B4CA-CF1D-4EB1-9CD5-F75A6190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1B03B7-8EDC-45A5-B264-8D4E491D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app-binahub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460B2E-74F8-4510-8C16-424094E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admin · client · program · delivery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74C5E9-5784-4452-8518-038DC52B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350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EC9837-1B20-4F8C-BDCC-6F26044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BinaInsight public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249A10-2B44-4090-8E12-DE8F2F32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no authentication · PDF + email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4482A8-A1BB-4435-92D9-62F521CD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D243DD-9AAD-47E1-BB2A-E3368134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909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binahub-api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790CDA-CB61-450C-9039-5122BAB6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validation · business APIs · webhooks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3106F7-4EEF-44E8-B08B-77852840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95650"/>
            <a:ext cx="2857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F83B6C-99D3-4269-98F4-6D819B16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Lifecycle State Machine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C14301-4978-4A56-B743-D0BAAB47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19500"/>
            <a:ext cx="2628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stage · temperature · opportunity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D48C6E-92E6-4EC8-BF3C-C6AED7E3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95650"/>
            <a:ext cx="3505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7A6B71-CF13-47A1-9B74-F36AA648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909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Trigger.dev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CB6C7D-ECFF-460B-BD38-D56DDC7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0"/>
            <a:ext cx="3276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durable waits · approvals · retry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0A37F3-9F63-4A49-AC0A-C02362D0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59AF05-7CA5-4C4B-9D97-8161D60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Lead Scorer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425ECB-8CA3-4CE6-AADD-EB0F18E6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fit + intent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8E49C1-DCE3-466C-A826-F1147B4F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B8F50D-4A46-4DC8-B973-DF6B98FC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Proposal 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8EA105-021F-4E01-9EAA-63FADA5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draft + module fit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88134C-C46A-4BCE-A5C9-402B4971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93EB83-649C-47B9-B73C-729856DA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Follow-up Agent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ACD45F-C385-411A-8D18-2544E579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contextual sequence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365B59-7F0F-4D0C-9A0A-609976E4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D80CF8-8227-41A6-B2DD-D97FA5C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Meeting Agent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C1C986-60CF-4957-949E-FD810B74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brief + recap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ED4735-EF23-45C4-A785-87F716E5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33850"/>
            <a:ext cx="179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B577DA-91B0-4DD9-83DC-67F34360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291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Retain Agent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E6F69A-70E8-4170-A7DF-49C168F8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4577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health + opportunity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6494D9-D13E-4D8D-BD45-6D6E82B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E79B27-5D44-4147-B5BA-5C3834C0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78B661-4169-4C8E-ACFC-5021DFE1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Postgres · Storage · outbox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9A1A24-F478-4F46-B6A2-E0A025ED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472867F-CD3D-4835-BC67-EB75591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BF962D-17AD-4246-BB2E-5963B7D8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models · spend controls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F4C270-5BE2-45C9-9618-898A0B0C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2286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379AE08-2DAC-4539-A17B-B7B46676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DD294F-8D07-4E28-9DF2-471EA306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9590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email · delivery events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B98C055-42AD-4192-9517-43AAD3F6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72050"/>
            <a:ext cx="2190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3F4AF5A-C105-4782-8A91-42A8BD34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06730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PostHog + Sentry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C7697D5-4757-4746-A7CB-16A8F221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9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attribution · reliability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3FAD4B6-EBB5-4942-835A-D1967DB8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0250"/>
            <a:ext cx="956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Human gates hidup sebagai task approval di dashboard—bukan melalui chat pribadi yang tidak tercatat.</a:t>
            </a:r>
          </a:p>
        </p:txBody>
      </p:sp>
    </p:spTree>
    <p:extLst>
      <p:ext uri="{BB962C8B-B14F-4D97-AF65-F5344CB8AC3E}">
        <p14:creationId xmlns:p14="http://schemas.microsoft.com/office/powerpoint/2010/main" val="7517817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901FCD2-E60E-4B72-B248-9A39C4CA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REPOSITORY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05342-3BFA-489A-AE65-90AF4179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16E1E-121D-4006-B733-533D65B2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520E3-3FAE-406D-950E-3AA8346B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Apa yang sudah siap—dan di repository 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92A37-6F72-45E1-AEC6-2CD30875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Status code-based per 24 Agustus 2026; deployment, production migrations, env, dan billing vendor perlu diverifikasi terpisah.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EA80A-1F14-42A3-8CAD-617D604F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4586D-89D1-4CB2-B19B-11AB540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8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54D31-15AC-49CC-A3C9-6D3521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57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D0A52-1AED-45E6-99ED-9D40EC2C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68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website-prod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24908-6805-48E7-8B00-B79985A1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57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73D053-5BE8-41F6-841F-02ABE67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85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app-binahub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8FF93-B234-4C72-99D8-C6A6D4C5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57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F8CFE-C0A2-4756-8BE9-CBEF7341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85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binahub-api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ECB8A-62DC-44BE-83AC-9715CEEF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57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B41A3-7D24-4D25-9533-3B8D0322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8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9FFF2-8417-4C7C-B40A-1329ED9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2CB1FA-F197-4F91-AE2B-F451DFB0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Company site + /insight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2C478-F249-481B-BAF6-A75FDCFF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10E5C-AA39-4F16-ADF4-1158C820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66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350AB-1F7B-4811-B5C6-CC3A4281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E89AA4-B1F6-4FAE-9DA5-44D43F3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66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Mirror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7A46F-1DC3-496A-ACCE-BCCE08B0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38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95E8D7-5F1D-4643-ABE9-5505D7C3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66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API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D4820-786A-40D3-A6FB-DF44F0D2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038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D5EDC-C310-4DA4-80F3-BB837079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66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ED658-D767-4C94-A4BA-8C218BFD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19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2D385-38DB-4789-93C6-08B60123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47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Public BinaInsight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DC99E9-3089-4249-89E9-FE12480B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9C718-170B-4B7A-BAB7-BBC59E80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0D48A6-08C6-40FB-AD60-10B83724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19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EED419-6544-4FFA-8600-8919CB39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47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3F655-13F1-41E9-8219-D1232C20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19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50323B-5AA0-4CDE-83C1-1921790E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Scoring + save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F75D33-8508-4358-A039-7DFF213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19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6E6DE0-FE63-4DA5-BEEA-CEBB177D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47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B0168A-6F18-4F96-8C33-B12A50DB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A54C4E-5C13-4FB2-BFF6-F41BECB8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28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Result PDF + email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400FDA-771E-4ABF-80E2-DD854C04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00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148ED4-1447-48A7-81E6-5F9C7B2B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28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CTA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079B13-9FB0-41D1-9078-504CF596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7D957B-80B6-490B-B5EB-76484F48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28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Result view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072263-A501-429B-9AEC-458E68D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0F3ACE-4E1A-4CD1-96C0-1B12484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28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4-page PDF + Resend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3F2FAE-1AAD-4796-A0A4-18362391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00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4CB538-E112-46D9-BFD3-3FF7FC48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28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6FF392-36FD-4DC5-813F-841B355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8C0193-555E-49CC-8C3B-EC6C2855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9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Admin assessment/follow-up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9E7A71-4A8E-4FD8-9A93-387B10D0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81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0913C2-A84E-4885-A3F7-DF2622D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09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BF540A-30B1-4465-A378-6CB768A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81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B74DB3-B01B-444B-8864-D32FE889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C05E5F-C74A-46E1-BDB7-63298C18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81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CB0FD3-30D5-4A5E-B332-7BD9D6EF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09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H+2/7/14 + claims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96F8C5-1F96-47CB-97C7-DB7F250A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0B8C8D-1990-4C22-BDBB-BA6E0632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209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9A2392-9444-4711-B58A-D58F647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A9BE92-0CAB-40DB-BD88-7AB8D4F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90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BinaInsight as program module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86E8A7-9C3F-4754-8D4A-F34BF8A6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C98F20-5F49-45FC-9269-9F73CCC9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90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ADB9EE-63CB-46B4-8222-53CFBE3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62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8A7F40-86B9-4423-A74E-059C2CE0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90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Module UI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66E957-0B89-4EA0-B949-19669499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62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C0B103-F540-4CD2-A6E9-2840F0AB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90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Migration + linkage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067E61-9C5E-40D9-A4B6-5195AA5C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62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513FC1-8A81-432F-98C8-2FB2D3A3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90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195DE9-16E4-4024-B4FB-9F069FEC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56B740-C844-4974-BA75-E1744B1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71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6FF840-1881-4689-A8B8-81771737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04646B-E8F1-4B41-8549-386FEE0F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71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CTA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D4B14E-B322-4D8B-AA2B-924365DC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43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78702B-1B66-46BE-9A74-74DD27BE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71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flow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66A4207-63A3-422E-8477-8E472CA8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9E1996-2AF4-446B-A210-6EADF4AF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71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Request + generated PDF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1889689-6226-4FA2-BEFC-21B555B8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943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4F221E-656C-4572-B446-36D62611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71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PARTIAL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AC4ECC-B13D-495B-B61D-F64D90C9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D16356-9D4F-4FC6-8385-C6C42BFB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52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Project/engagement delivery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A48B479-8426-4F69-BF59-67D568D9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4DB784F-A439-4C17-B703-9F4F7A44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52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B5E3692-0EAD-4CC1-9722-8705FD4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BCBA79C-F52E-41BB-8078-58F40C2E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52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Admin + client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ECDA715-A975-42A0-A377-5400DC85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0CDA63-BACB-4FB7-ABBF-09E4AD90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52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+ services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838DBC-4CF6-4ACB-B4B5-D42F44BB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24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299C96-9BE8-4DAF-8C99-40264550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52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BLOCKED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9FD04E9-BD4B-4D11-90AD-B017A471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C4575FE-8182-44FD-AE69-50AEE192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33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Attribution + analytics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E6522A0-2D49-404E-877B-4B7E370B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05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0C9855-3EC6-4AA1-8A19-4DA0AE6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733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4CAE8B3-5B9C-4AAD-BBCD-EEB5D06C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705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88BA23D-1E74-4D18-B2CD-CF9A813F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33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Adapter only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3AC9A11-51D7-491E-B509-38CB93B9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05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09D80A-CFB8-47E9-BB9B-B28A3AD3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33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GTM events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CD2AB66-A339-4492-9E3A-206CBA88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05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971D989-1B40-48DA-AFF1-080EB7AC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33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508755-1A73-4930-B6DA-749A383B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5B88483-CD2C-4DFE-B1CE-612AAF1C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Calendly automation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87C1BF6-9DD5-4533-98C0-357CC277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86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062C79D-6B16-471B-AD48-92F7B6D1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14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B0FFAF-C345-4A80-A734-C01A0A9F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86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D7E5B3-9075-411A-9F09-FC7A69F7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14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A9BBE0B-CBF6-4A42-B8D0-88474520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86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9A9681-65A1-4868-91C3-D5927B96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14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Hard-coded link only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70C068-0849-4BA9-A972-C90344E2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86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0D68977-3E5C-4600-BCAE-3C60ABC8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114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1C56ECB-E540-45AB-A828-52CD71B5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2571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FBF0786-4368-4F6D-A59C-9BBF6420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95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Retain/account health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0982A5D-31BE-4CB9-BC5B-4B3BAA5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67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75B5988-5E52-4F25-AC8D-9A64BC8D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9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04AA3C1-80F0-4ECC-BC4E-28B97677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4673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5AA648-6CEA-475C-B904-6AEBAA85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4959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Evidence foundation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B5633C-977E-4106-8FDC-C75B0CD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2914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C418612-0151-489F-917C-72684884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95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playbook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1B90149-15CC-49D8-9CD4-3B6CFABD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4673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52E38BB-9740-46BE-875A-F06E5D28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959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B24CC61-8BAC-4EE4-8DF7-F47DD8F0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D1FC583-D8B7-4E0C-A4BD-21C5032D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007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Legenda: READY = usable foundation · PARTIAL = works but not end-to-end · BLOCKED = schema prevents reproducible deployment · NEW = belum dibangun</a:t>
            </a:r>
          </a:p>
        </p:txBody>
      </p:sp>
    </p:spTree>
    <p:extLst>
      <p:ext uri="{BB962C8B-B14F-4D97-AF65-F5344CB8AC3E}">
        <p14:creationId xmlns:p14="http://schemas.microsoft.com/office/powerpoint/2010/main" val="250982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A114B41-4CD8-4B13-A888-FD137BC6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 HARDENING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85388-B748-4AC8-B9C9-06E8DEB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78F7A-B011-4A8F-B3AF-49104A67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B2A26-4F2B-49BD-B4EF-3A602E2F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Tujuh risiko yang harus ditutup sebelum menaikkan volume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14BCE-BA38-4EE4-86BB-E563411D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Ini bukan backlog kosmetik; masing-masing dapat memutus data, mengirim pesan salah, atau membuat funnel tidak dapat dipercaya.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E6C40-BE84-4C0E-BBFC-C9FFA4EE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EC3CC-3028-4222-8C27-0618F052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621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A4C55-AA91-415E-977C-F50A37B6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335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A3ECF-206E-48A6-BB2C-69473309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62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51DFF-5384-4BED-868C-ACC5DFF0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AFEC7-82F5-4A68-B057-85370D6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621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Dampak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32A22-0707-4EDF-8AED-AC29E309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335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63C24-D61A-4E67-9508-522E79FB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Perbaikan minimum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ACCBE-F6F3-434D-8B81-3CB47B36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DFE90E-5BFE-4B49-A37A-3A7C6E0F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76E038-E17F-494E-BFBE-F3265239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7EC0F-9C73-4EB0-A2E0-12FA6F57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38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Automation Center drift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F373C-7EE3-4984-BC3B-6B1EF259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C66722-C751-4ABB-89B3-E6276A9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38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gagal di clean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735DF-3FF7-4117-A8A0-AC44311E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08D03-EC90-49CA-8217-48B71BF0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383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Reconcile + migration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1E9AE-4DFF-48D7-A038-2D103E6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B468C-A625-4F1A-961A-19895BF6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01733-8E9C-4808-96F3-65594A1B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E9A32-D654-468D-94F4-836A9975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146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 insert error tetap success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630434-7345-401B-AEED-F2C8A250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B5AFC-57F9-4CB0-816A-14F3765A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14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Lead hilang tanpa terlihat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663F0-A6E6-4195-A927-B357F8DF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AEB6D6-100C-4946-80F7-A9CDAD34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Fail closed + outbox + alert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AC6F34-8CA7-4F6C-9B90-AF69147A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04D62-F976-4459-A4B3-CD5A6F26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CDB858-73B1-4760-9498-4CC555C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623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5930E-36BF-416E-A796-F475FB47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908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Chat menyimpan sessionId tanpa token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8F170E-5D7B-42B0-B435-69B356A1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623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CD84A8-F9B7-468C-88A6-049B44A5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908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Chat gagal setelah pesan pertama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C03ED6-D791-4CB2-AB12-F76524D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986608-23E2-48F7-84A6-CED9C4DE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Persist dan kirim sessionToken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50965B-2752-4019-9311-994A50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DB0B25-E12C-4C4A-A830-AED3772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671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F051A7-F364-41A3-AFFE-4398ED99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385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A293FB-CF73-40A6-8C31-3E0E3FFC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671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temperature bercampur status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F57474-B370-46EF-B922-C17B29B6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385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DB4A65-3579-4CD7-8259-46FBA937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671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Routing &amp; laporan tidak konsisten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7A405E-AF4D-4553-89C2-0BEBBF75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4C2A9A-7FF8-4672-8C7C-99456DBE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3 field lifecycle terpisah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9BA435-EF96-4CB4-B362-238C0E01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0A6B2F-5637-4224-B018-1DAEF21F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433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6D9AAB-16D1-44F4-86EA-0514401D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A44CF7-333C-4587-9AFA-77FBCDDC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433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Event queue claim tidak atomic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675C75-E6D7-4B58-9750-6DF4D280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15348D-4267-4094-8EDE-E0C67577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43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Double work / failed event mandek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413E2C-17E2-478C-A386-FD786B37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148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03CFCAB-E0F8-480A-8AAF-458586BE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433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Atomic lease + retry/backoff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3A9D47-998C-4624-A87B-A960D415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9105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242701-5CF8-4FC6-92A3-37C361EF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D8D04D-85B4-41AD-BD73-367E6D98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910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22410A-D503-48FC-9D66-CA744CB8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1962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unsubscribe/suppression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EABC88-5027-4DBF-A010-5BFB365E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8A9B261-BB35-488E-A204-325D545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1962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Compliance + reputasi email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1AC05D-9B02-4ADC-9327-626AD347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9105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2404EA-2A25-4F2E-8571-929190B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1962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Unsubscribe route + webhook sync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D90820-082C-4302-A424-EC27E6F4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047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091DA2-7958-4A1E-83BC-D68F7F98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99AC65B-CF94-48EA-8974-32D97F4A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673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C1E3FE-5B26-44D9-943F-0AFF9C8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No attribution + cron proof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ECB8E8-DCB8-46E9-8610-16EDB84A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67300"/>
            <a:ext cx="3238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698893F-B261-48D9-B8A1-269B3177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958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CAC dan automation tak terukur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C46D58-5DFA-4379-B544-B99DC9B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67300"/>
            <a:ext cx="3962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DAC7092-F3C3-46CB-8413-4C305EDD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95875"/>
            <a:ext cx="377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GTM events + health checks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0EA9BA-EA66-464C-8C5E-5B05B615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13919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3CC1C71-51B2-4C1C-BE53-234D9798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11391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F3F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537A0A2-E7E4-49E7-9974-0250677D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Exit gate P0: fresh database deploy + smoke test lead→assessment→email→follow-up→proposal→client tanpa error atau data manual.</a:t>
            </a:r>
          </a:p>
        </p:txBody>
      </p:sp>
    </p:spTree>
    <p:extLst>
      <p:ext uri="{BB962C8B-B14F-4D97-AF65-F5344CB8AC3E}">
        <p14:creationId xmlns:p14="http://schemas.microsoft.com/office/powerpoint/2010/main" val="10754436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09A8B-E5CB-4BAE-8AD4-3F5D236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MONTHLY INVESTMENT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F7023-56EA-47A2-BC6C-C594CF00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6B6D8-DE72-4053-A969-34857F1F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7FD9A-EC75-472C-90D2-EAE7BA75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Belanja berjenjang: bayar sesuai maturity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4C3C93-6039-4B7F-B699-86ABE09C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Harga vendor resmi; konversi memakai JISDOR Rp17.703/USD per 24 Agustus 2026. Belum termasuk pajak, overage, AI inference, dan iklan.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2888A-B3B1-4C27-92B6-AD8B710D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42A04-8CDE-44BD-B1F7-61F134C3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CORE 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9C22D-EEC6-4775-AA57-FF146C7D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F63E8-FC93-4931-97DF-BF021FC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±Rp1,50 jt/bulan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6BE12-DB99-49FB-8896-B357F467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8366C-EABF-4772-B05E-A862430D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Vercel Pro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Supabase Pro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Resend Pro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Calendly Standard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Trigger Hobby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8BAD3B-903D-467C-AD23-E9A1585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38750"/>
            <a:ext cx="1771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C5114-2DF3-44C2-914B-E34594D3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4827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REKOMENDASI MULAI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FB459-C9DA-4F08-87A1-5C9971FD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73669-F46B-4EB6-9DD9-6E01D9C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CORE + OUTBOUND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3811A-0E28-4830-8063-6B889E37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$134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9D6BD-54C7-4F51-B32C-BDEAA875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±Rp2,37 jt/bulan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E65DF-2367-4AB4-9872-8CE76BEB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F11E4B-9A6E-45F4-B9BF-75929BCC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Semua Core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Apollo Basic 1 seat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Cocok untuk pilot outbound terarah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22411E-21F6-46E7-A79E-9DFCBE6B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3562350" cy="373380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7CC91-1BEF-4E52-92BF-FE550EFD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574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SCALE-READY 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BFA26-CAA7-4996-A914-DD491DE0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$200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30A85-1408-4B5D-8B54-EE37AA12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3105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44054"/>
                </a:solidFill>
                <a:latin typeface="Arial"/>
                <a:ea typeface="Arial"/>
                <a:cs typeface="Arial"/>
              </a:rPr>
              <a:t>±Rp3,54 jt/bulan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AA962C-5917-4DAC-9864-B8B9E035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385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670BE1-2AB2-40AF-9337-FFD3DAC0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276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Core + Apollo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Trigger Pro</a:t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Sentry Team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Untuk volume dan operasi tim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42EC8-0AD0-4174-832C-26A11575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AI/OpenRouter adalah pay-as-you-go. Ads adalah media spend. Keduanya harus diberi cap terpisah dan tidak disamarkan sebagai biaya SaaS tetap.</a:t>
            </a:r>
          </a:p>
        </p:txBody>
      </p:sp>
    </p:spTree>
    <p:extLst>
      <p:ext uri="{BB962C8B-B14F-4D97-AF65-F5344CB8AC3E}">
        <p14:creationId xmlns:p14="http://schemas.microsoft.com/office/powerpoint/2010/main" val="5002359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39B4FA3-968A-409F-866E-5F0FE911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SUBSCRIPTION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20ABD-6EA8-49EB-B9DA-ABF365A3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E2E5C-9190-47B6-A5AF-AD63C340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454AB-E66A-465F-9989-18159750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Apa yang perlu dibayar setiap bulan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658F5-F79E-4F85-B851-21033153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Pisahkan: wajib untuk production, baru setelah P0, opsional untuk acquisition, dan usage-based.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25ABA-88F3-40F7-96DF-A386AA04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106DB-39D7-4726-9B1B-900E27F8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287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19BDE-B269-49FC-9115-8F3508AD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6002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C8337-4B4C-48EA-A9C4-09C8673C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287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/ harga resmi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EAB11-38F7-45DC-9967-0BF1494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002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B17D8-E5AE-4E45-AFF7-1485CBA2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287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E909B3-8839-40E9-BDAA-E3CDC733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002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4C92E-F0D7-46F4-8322-578F7776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287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B0C0B-FC4D-4FC9-9334-65B62C3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00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603EC-49FC-4505-91EF-78F03825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6287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Keputusan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207FC5-F35C-4344-9CE0-59337599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436C5-FDD5-4E3B-AE07-5AF7FAEA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669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A9143-61BB-4BDE-AAA8-B3E0E024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383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6738A-6CB8-42C6-B1F8-E9F214AE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669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 $20/dev seat/mo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D4320-783D-4447-907E-AE955E1F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383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BC04B-A559-4A8F-9157-50666791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669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Host 3 Next apps + CDN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755B3-F77C-41AC-A87B-A76434E9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383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472D5-D862-4FD1-8843-0ED7C8CD4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669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F605C-593A-49F5-A535-CFCDA3FA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383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4E7B5-7B45-4B1A-9DCA-D0BAF5FC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0669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Wajib 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3DFF8-1929-4A41-AEE7-F3C18DFC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634AF4-14CD-4958-AEEC-844CA076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05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71E65-08B9-4D49-83F4-2F557506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C2C43-7D60-403A-8552-08F2A916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050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 mulai $25/mo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57CA64-C081-418D-B5E8-B5AD0EDD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765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74C6E8-D0E4-4F72-8AD5-5E6599AB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050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Postgres, Storage, backup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BB860-1EEC-413F-83D1-369DDE87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7EBE45-303C-47E7-8E35-090C7D22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050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6A6683-5F1B-4399-9B55-6F52A05B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765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B7BECB-6733-4C4E-B805-6D8AE01C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050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Wajib production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E56BFD-0787-4B18-AB3C-81443BFE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146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8CF28A-08CF-4FDC-9C3A-C7776A87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Resend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1DAC9A-A1A2-4E7C-98DC-5B24071B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9146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0992DB-3036-4601-AD04-8962F7AA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43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 $20/mo · 50k email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284C6A-2457-4108-BA74-28063D0B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146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58F233-DF0D-4184-8607-F351D954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432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Result, proposal,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7E35FF-D7CD-494A-8176-C98E822A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8B3B79-5F0B-4B57-A7EB-58BB6F09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432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62717B-2456-4673-AB4F-D8C32C64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0D52B2-CF7F-4941-B245-54F09865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432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Wajib production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91F012-3C0F-4F4C-9935-82A22F81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2052A2-7AB0-4E8F-9740-B170E407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Calendly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A4CE0D-9D76-4F7D-85A8-F1B7D505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528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2353A2-39EF-419C-BA41-4CEC1ABD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813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$10/seat/mo annual · $12 monthly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EBC2E6-A82F-4836-BA02-5F0A35F9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528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86F6A3-4277-47C4-B604-20687C86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813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CEO availability + webhooks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DF26B3-7674-4308-B2CB-E3AD86B0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192EF9-7EAA-462F-A476-757D4356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81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EE8135-5AF5-40A6-B89D-F007C6DF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CAFEAE-C35D-435A-9109-CDC90F6B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Beli sekarang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06840B-753E-4A12-950D-CFDE0AA3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838A13-7BAE-4623-A472-B571E07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Trigger.dev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5FED096-D7F4-4C1E-9E82-BBC0EEA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909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D53E97-9277-46B6-9695-6B54CECB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95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Hobby $10 · Pro $50/mo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FBA135-E4EB-4D75-8DB3-ADA8763A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909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427C50-CF47-4812-9DEC-775F8AC6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195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Durable workflow + approval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C875226-7C58-4506-BD63-25451173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6E0E07-60D4-4D3F-935B-E3EA683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95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749B15-13D1-4D34-BAE2-6E690BFA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909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75861F6-81C2-466B-A7B2-01D42BA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195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Setelah P0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E4F34D-DB07-4242-B2C2-0DC3E3C0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B40872-AC74-431C-85D6-50FD414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576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Apollo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609B1B-F2C9-4388-A0F1-AEEF8C80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291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C526C1-90CC-4010-8E51-539D9CE4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576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Basic $49/seat/mo annual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CEA3F52-B8D3-4633-AD21-F7362863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291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3B7CDD7-1E61-4A3D-9628-683AEE83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576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Prospecting + enrichment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1B8F01-299B-47A9-B32B-CB5A034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29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6B3DA5-724A-4FBB-9A75-B432D7BB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576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298E52-103A-4D37-AB20-6EC0CCE6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291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FCC376-50E2-480E-8A8C-6F5F95B8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576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Pilot outbound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40D593C-6ED0-4E00-BAC7-8B57E582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F397233-8A20-4A6C-AD58-C49D6336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958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OpenRouter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CDBAB21-98C0-4380-B4E7-E06ECB1A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672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86A0685-582C-4DF3-8FBB-8633589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95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PAYG · 5.5% top-up fee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052352-B877-4BB7-86B6-F55933A2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6672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DD7FF3-9D7F-4DD4-BEF5-5F9336C4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958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AI inference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F2A345-AD6C-4EEA-9409-73A2DFD3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EB1A8B-BC91-4930-A037-D48D101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6958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Existing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09D953F-18EC-4333-892C-B9AFDE44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672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F9BE01-6643-46E2-9A81-495368F8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958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Cap + budget alert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C124AE6-4517-4AA3-912D-B03DCBA1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4BDE723-4272-435B-AEA4-86132EC2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339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PostHog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5C8F6C-CDF1-48C8-96BE-2F506738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054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12D43A4-D98C-4351-8706-4701152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339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$0 ≤1M analytics events/mo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60F9394-F8E3-4D8D-8A7A-C28E54A2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0540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70EE50-63C0-46A3-820E-6FB7B1E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13397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Attribution + funnel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211CAB1-9D59-4007-99F1-7A468A39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05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4D4A609-589A-43CE-999E-F7B45CFF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339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69923-9091-4228-9620-838D13FE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054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71D5828-F9F5-47AF-A3F4-7D1FD55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3397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Aktifkan free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57D8279-A8E4-4FD8-8C3C-49A6F712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849BB5-40E0-4BD2-A9DC-4D448F4F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721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Sentry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B86A652-D37E-40DD-9386-5B2E15AE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435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D47CE02-77FD-47FC-A89D-843EA6C3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572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Developer $0 · Team $26/mo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5FB53A8-1DAC-4EBC-8681-3810B6E3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43550"/>
            <a:ext cx="2819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CA628F3-E1D4-4D34-8BB7-900AD5E8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72125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Errors, traces, cron health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EF1FB39-3C40-42A3-A63F-ECC1C433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C00A035-C4B9-4AD7-BCDA-0638E06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572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New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E23172C-6F22-4F2A-9E4F-07446BAB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435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961CBA2-222A-43DB-85C7-BCDF4DFB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5721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Free→Team saat scale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A367461-6B49-493C-81DC-5496FB5B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139190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86482FD-E4FC-47EA-BD38-7E19AD79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Tidak termasuk: Google/Meta ad budget, taxes, Apollo extra credits, email verification, WhatsApp API, domain/mailbox, overage, dan kurs kartu.</a:t>
            </a:r>
          </a:p>
        </p:txBody>
      </p:sp>
    </p:spTree>
    <p:extLst>
      <p:ext uri="{BB962C8B-B14F-4D97-AF65-F5344CB8AC3E}">
        <p14:creationId xmlns:p14="http://schemas.microsoft.com/office/powerpoint/2010/main" val="71740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2BE5149-147D-4CA0-B169-ED528FA3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VARIABLE SPEND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CE9B0-F97B-48FC-B238-A8D12339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74B17-7D3C-4FFE-9045-CD7534EF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B915A-EEBC-46D0-AF60-C8D5B2D9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SaaS kecil; media dan data yang menentukan total burn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54AE8-DD38-4BAB-8B33-F585694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Envelope berikut adalah asumsi perencanaan, bukan quote vendor. Validasi ulang setelah 30 hari memakai CAC per completed assessment dan per booked meeting.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6D7DE-F3C0-40AA-AAC9-3A326498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24170-9C1E-49B8-864D-22CE9087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PILOT 90 HARI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0084A-24E3-48A2-98E4-F6F0D1CD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FF8E9B-2ADC-433C-9BDD-8682711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Rp2,4 jt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264DD-A5BD-4378-B4E1-185181EA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AA22B-1ED9-42F2-AEEE-C666675F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ABC6E3-82FE-41E4-9D89-2792E069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Rp0,5–1,5 jt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4E306-A712-4ADC-ADAE-7A3566A2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27473-17BC-4704-9371-7CE2C921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AB4CF-101C-4824-B199-C5E5D339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Rp5–10 jt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222F9-E329-4746-818E-00A6ACBD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B3047-C4B5-478B-9AA5-A31DC2A8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AD676-EF61-4E0D-A1F0-4D3C8EF1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Rp7,9–13,9 jt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73CB4-8A40-4F50-9118-B4A97A84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Core + Apollo · ICP sempit · 1–2 kampanye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CB17A-BA3B-4ECC-88DE-715A334D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50E43-A1FA-4505-8CE4-4934CBD4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873CE6-9F17-446F-A7AD-6EBAA943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B0A755-F5BA-4268-99EC-D1C76143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Rp2,8–4 jt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197030-5949-4452-92D7-A284B361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6721E-0B15-4150-8DAD-5ABAADC6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8828C6-8088-43E0-8BD8-9465FDBB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Rp2–5 jt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032B7-763A-4DED-BDDB-A82E2E65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F85E8-92F4-4738-8EFC-7105113F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8DFA2A-EB20-4E62-89A2-F6F45ADE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Rp15–30 jt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BFC88-CB1A-4563-A0F5-BC26F9D7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465291-BEC5-4246-AE5D-206B9A22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63DA53-2138-4368-9009-EDFE9F01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Rp19,8–39 jt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96A7A9-A8A3-499C-8D92-470F5570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Lebih banyak segment · Sentry Team · enrichment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872286-5A7B-4225-A592-89B3E924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562350" cy="3905250"/>
          </a:xfrm>
          <a:prstGeom xmlns:a="http://schemas.openxmlformats.org/drawingml/2006/main" prst="roundRect">
            <a:avLst>
              <a:gd name="adj" fmla="val 4278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944EF8-F567-4D5F-A304-6A37200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3E1B26-E6D7-4665-A024-5920C6A7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76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Fixed SaaS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E0254-5890-4184-BAB8-AF1D334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Mulai Rp3,5 jt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367B1A-F666-43AA-84A1-7109F8F0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F16906-FCA6-43CB-A10C-40E4412E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AI / data / verify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507F26-BEF1-4F60-9107-0A0CEF5A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432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Rp5–15 jt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61045B-7966-4B15-BC41-03153047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242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27D331-C80C-4F3A-8629-6D487C0D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Media spend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DEEEED-5BE7-483F-844A-6718BDC7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8290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Rp40–100 jt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91E476-126B-486E-BD92-602F7743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10050"/>
            <a:ext cx="302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21BC21-57A9-439B-A648-B70D18CF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14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TOTAL ENVELOPE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F29A3A-E84B-4AC6-976C-A742CB1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Rp48,5 jt+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F7A28D-3B26-4F27-9DB9-C5504AB2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768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Butuh vendor quote, capacity test, dan sales ops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C80A38-FB5E-4330-85E2-8F8094B1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BC2184-A0DE-4C7D-8247-EA4F314A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Budget gate: naikkan media hanya bila data source→assessment→meeting→won lengkap dan spam/unsubscribe tetap sehat.</a:t>
            </a:r>
          </a:p>
        </p:txBody>
      </p:sp>
    </p:spTree>
    <p:extLst>
      <p:ext uri="{BB962C8B-B14F-4D97-AF65-F5344CB8AC3E}">
        <p14:creationId xmlns:p14="http://schemas.microsoft.com/office/powerpoint/2010/main" val="11450508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9D3B01-63D7-44EC-8AA6-FD8DB730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IMPLEMENTATION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7A8F6-38C3-451E-8723-B94D5BD0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DD651-B85C-41AC-A3EE-94A50A85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415B1-5BE3-4AE4-AE74-CB892F7C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Roadmap 120 hari: harden dulu, lalu hidupkan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FA765-1DA0-4C5E-A40F-8AC2C2D8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Masing-masing fase memiliki exit gate yang dapat diuji; tidak ada automation yang dinyatakan siap hanya karena UI sudah ada.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46A82-7B8C-4841-979C-9CAC3C25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4ABDA-475A-483A-AA4E-91C243F3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DAY 0–30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78032-E9A4-4574-A8C7-3201350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P0 HARDEN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AD89D-DC23-42CA-A26D-D61107E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Schema reconcile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Contact/chat fix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Status model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Atomic worker + retry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Unsubscribe + suppression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D7940-BD15-4B5D-A426-EAC83F66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B3CF3-E061-4657-B35A-8B23E17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Fresh deploy &amp; smoke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A016B-F681-486B-B9ED-55FC47F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96352-6B31-4FAF-8BB2-443498AA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ADD99-E470-4AD6-BA3C-40F5BA1C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DAY 31–60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BC6A6-A881-4A35-B9A7-9A13D9E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VERTICAL SLICE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35271-4255-4FBA-8F89-638978F6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UTM + activity timeline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Lead routing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Standard proposal rules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Human approval task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Dashboard SLA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EE616-6824-42EE-92AA-F460085C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9A44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A441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F685F-82DC-4D76-A569-E08D2715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Prospect→proposal traceable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56D6BC-DFEA-41D3-B49F-EBE649A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AA25C4-CB53-401B-810C-FCE8CB1A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2628900" cy="37147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44178-7E02-4099-A58F-333AF94F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2247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DAY 61–90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0AECF5-B378-4D2C-B5F3-25754E2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ACQUIRE + MEET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D6F3B-65F4-48FB-9692-B2597F8C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2247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Apollo pilot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Calendly webhook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Meeting brief/recap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Resend events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PostHog funnel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A251B-938C-4808-81C2-D9F5D6E3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2247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870654-E1F7-45B7-B4FE-AF7929AB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292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CAC + booking measured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FD99A-6522-4BC3-96FF-C2198BF0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09950"/>
            <a:ext cx="20955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9C09C6-403B-4A8B-B8ED-0C36BCBB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647950" cy="371475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2E7D3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F53F04-39FB-4883-A306-B31BF5DD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193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DAY 91–120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62259-E12E-4885-B472-194B545F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CLIENT + RETAIN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1C8D6D-92D6-419D-9834-A8C0308A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67050"/>
            <a:ext cx="2266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Won handoff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Autopilot stable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Health score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PIC history</a:t>
            </a:r>
          </a:p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QBR + repeat opportunity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F34EC-6096-4237-8A46-34F021F4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62500"/>
            <a:ext cx="2266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D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E7D32"/>
                </a:solidFill>
                <a:latin typeface="Arial"/>
                <a:ea typeface="Arial"/>
                <a:cs typeface="Arial"/>
              </a:rPr>
              <a:t>EXIT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AB5A5-4AD7-49E8-A753-BA96756C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029200"/>
            <a:ext cx="226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First retain playbook live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7CF90F-9A90-44B3-BB07-238E90BD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Owner minimum: Product/Tech lead · Sales ops · CEO/commercial approver · Data/privacy owner · Delivery ops</a:t>
            </a:r>
          </a:p>
        </p:txBody>
      </p:sp>
    </p:spTree>
    <p:extLst>
      <p:ext uri="{BB962C8B-B14F-4D97-AF65-F5344CB8AC3E}">
        <p14:creationId xmlns:p14="http://schemas.microsoft.com/office/powerpoint/2010/main" val="12847881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666462-510A-483D-81F9-971B3BC5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CEO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E90F2-B8F0-4B38-8841-1954EDD3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296C3-AE0F-41F5-BC66-B375ECC5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C4FF3-6CFE-4169-BF34-A9923C95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Enam keputusan yang membuka implementasi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12F15-56E8-462C-84C2-446EA4A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11391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Tim teknis dapat mulai P0 sekarang; automation komersial memerlukan guardrail bisnis yang hanya dapat diputuskan CEO.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D2B06-579D-44EB-803C-D92AD272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5F345-7632-4358-864A-DDCC4236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6C2CE-DC2E-423A-9B03-22E1F342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859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ICP &amp; channel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3BD8A-2B87-411B-B39E-52B308B5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288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Industri, ukuran, jabatan, wilayah, exclusion list, dan batas penggunaan 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098F3-C2CE-47EB-9548-2BEE948E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5D161-FADB-445C-B8A0-925DFEA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EEB44-71F4-442E-930A-69CF017D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Catalog &amp; pricing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330D6-9BB5-44B3-9533-844D3BA2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288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Modul, unit harga, minimum deal, discount ceiling, validity, dan pajak.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C28A8-D66F-421F-8BEC-DF4898CE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705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C4986-1FE1-4AE9-9167-570C70F0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184AC-B563-41A3-8544-8990FF77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EAB78-83FA-4185-BF72-8A52B918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Nilai deal, custom scope, confidence, reputational risk, dan SLA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617AD-579F-4040-8712-8A95881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A8138-625E-4F8C-9784-C40EB353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6006D-9B6F-4AD0-BADA-62C64618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385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Budget envelope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376BA-7C5A-43F6-BB05-DA464EF4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81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Core $85, outbound $134, atau scale-ready $200—plus cap AI dan media.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4FC2C-1676-4282-968D-61C4896A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31187-1DA8-4578-890E-5D903BD8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E4223-8C19-41AF-9FBD-9F956432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Ownership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B6B9CC-4256-4A87-8A95-C5B3773B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33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Sales ops, product/tech, privacy/deliverability, delivery ops, dan approver.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EB16C-8776-4C0A-9F49-450B651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5619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4E7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E7888-32B1-4C2C-A990-D2BACDAA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C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2C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489727-360E-4D9A-856D-202588E9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9105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90-day KPI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5163A-F5B4-48A9-8E89-35B1A82C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Completed assessment, qualified lead, meeting, proposal, win, CAC, dan spam rate.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16033-86FF-47FF-8DC2-537A6AD6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C6B"/>
          </a:solidFill>
          <a:ln xmlns:a="http://schemas.openxmlformats.org/drawingml/2006/main" w="9525">
            <a:solidFill>
              <a:srgbClr val="0B2C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4DC7B-010E-4F25-9252-750E03FB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87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ACTION: approve Core Production + P0 hardening; review pilot metrics pada hari ke-30 sebelum menambah media spend.</a:t>
            </a:r>
          </a:p>
        </p:txBody>
      </p:sp>
    </p:spTree>
    <p:extLst>
      <p:ext uri="{BB962C8B-B14F-4D97-AF65-F5344CB8AC3E}">
        <p14:creationId xmlns:p14="http://schemas.microsoft.com/office/powerpoint/2010/main" val="1580372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2026-08-24T15:58:24.4440000Z</dcterms:created>
  <dcterms:modified xsi:type="dcterms:W3CDTF">2026-08-24T15:58:24.4440000Z</dcterms:modified>
</coreProperties>
</file>