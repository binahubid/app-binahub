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a4b19769a64c10" /><Relationship Type="http://schemas.openxmlformats.org/officeDocument/2006/relationships/extended-properties" Target="/docProps/app.xml" Id="Rb3b8d0734980493f" /><Relationship Type="http://schemas.openxmlformats.org/officeDocument/2006/relationships/officeDocument" Target="/ppt/presentation.xml" Id="R5d5dc798d73547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027ccc60ca4a4b"/>
  </p:sldMasterIdLst>
  <p:notesMasterIdLst>
    <p:notesMasterId xmlns:r="http://schemas.openxmlformats.org/officeDocument/2006/relationships" r:id="Rb303397905fe4484"/>
  </p:notesMasterIdLst>
  <p:sldIdLst>
    <p:sldId xmlns:r="http://schemas.openxmlformats.org/officeDocument/2006/relationships" id="256" r:id="R24fb9ce5ac17432b"/>
    <p:sldId xmlns:r="http://schemas.openxmlformats.org/officeDocument/2006/relationships" id="257" r:id="Rbc0e955b9aa84257"/>
    <p:sldId xmlns:r="http://schemas.openxmlformats.org/officeDocument/2006/relationships" id="258" r:id="R77ad8bb3a3c84485"/>
    <p:sldId xmlns:r="http://schemas.openxmlformats.org/officeDocument/2006/relationships" id="259" r:id="R591dbb692a474405"/>
    <p:sldId xmlns:r="http://schemas.openxmlformats.org/officeDocument/2006/relationships" id="260" r:id="Ra5ffab9354744f0a"/>
    <p:sldId xmlns:r="http://schemas.openxmlformats.org/officeDocument/2006/relationships" id="261" r:id="R209ae0e5717544fa"/>
    <p:sldId xmlns:r="http://schemas.openxmlformats.org/officeDocument/2006/relationships" id="262" r:id="R094635d23c5042eb"/>
    <p:sldId xmlns:r="http://schemas.openxmlformats.org/officeDocument/2006/relationships" id="263" r:id="R4065485637e44da2"/>
    <p:sldId xmlns:r="http://schemas.openxmlformats.org/officeDocument/2006/relationships" id="264" r:id="R2cce09ba1ded41b4"/>
    <p:sldId xmlns:r="http://schemas.openxmlformats.org/officeDocument/2006/relationships" id="265" r:id="Rc3872cc53b2d446d"/>
    <p:sldId xmlns:r="http://schemas.openxmlformats.org/officeDocument/2006/relationships" id="266" r:id="R40da8a35639f49d8"/>
    <p:sldId xmlns:r="http://schemas.openxmlformats.org/officeDocument/2006/relationships" id="267" r:id="Rc3598b9cf1b94854"/>
    <p:sldId xmlns:r="http://schemas.openxmlformats.org/officeDocument/2006/relationships" id="268" r:id="R32ab34823a684805"/>
    <p:sldId xmlns:r="http://schemas.openxmlformats.org/officeDocument/2006/relationships" id="269" r:id="R5c46f2224bf24ace"/>
    <p:sldId xmlns:r="http://schemas.openxmlformats.org/officeDocument/2006/relationships" id="270" r:id="Rbe65d3e71b844705"/>
    <p:sldId xmlns:r="http://schemas.openxmlformats.org/officeDocument/2006/relationships" id="271" r:id="R6e3854276d294d4a"/>
    <p:sldId xmlns:r="http://schemas.openxmlformats.org/officeDocument/2006/relationships" id="272" r:id="R0eacb079a6cd47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7eef5b12794519" /><Relationship Type="http://schemas.openxmlformats.org/officeDocument/2006/relationships/slideMaster" Target="/ppt/slideMasters/slideMaster1.xml" Id="Rba027ccc60ca4a4b" /><Relationship Type="http://schemas.openxmlformats.org/officeDocument/2006/relationships/notesMaster" Target="/ppt/notesMasters/notesMaster1.xml" Id="Rb303397905fe4484" /><Relationship Type="http://schemas.openxmlformats.org/officeDocument/2006/relationships/presProps" Target="/ppt/presProps.xml" Id="R8a85c6dc3c8b4f1d" /><Relationship Type="http://schemas.openxmlformats.org/officeDocument/2006/relationships/tableStyles" Target="/ppt/tableStyles.xml" Id="R65bfe51c8a6549e9" /><Relationship Type="http://schemas.openxmlformats.org/officeDocument/2006/relationships/slide" Target="/ppt/slides/slide1.xml" Id="R24fb9ce5ac17432b" /><Relationship Type="http://schemas.openxmlformats.org/officeDocument/2006/relationships/slide" Target="/ppt/slides/slide2.xml" Id="Rbc0e955b9aa84257" /><Relationship Type="http://schemas.openxmlformats.org/officeDocument/2006/relationships/slide" Target="/ppt/slides/slide3.xml" Id="R77ad8bb3a3c84485" /><Relationship Type="http://schemas.openxmlformats.org/officeDocument/2006/relationships/slide" Target="/ppt/slides/slide4.xml" Id="R591dbb692a474405" /><Relationship Type="http://schemas.openxmlformats.org/officeDocument/2006/relationships/slide" Target="/ppt/slides/slide5.xml" Id="Ra5ffab9354744f0a" /><Relationship Type="http://schemas.openxmlformats.org/officeDocument/2006/relationships/slide" Target="/ppt/slides/slide6.xml" Id="R209ae0e5717544fa" /><Relationship Type="http://schemas.openxmlformats.org/officeDocument/2006/relationships/slide" Target="/ppt/slides/slide7.xml" Id="R094635d23c5042eb" /><Relationship Type="http://schemas.openxmlformats.org/officeDocument/2006/relationships/slide" Target="/ppt/slides/slide8.xml" Id="R4065485637e44da2" /><Relationship Type="http://schemas.openxmlformats.org/officeDocument/2006/relationships/slide" Target="/ppt/slides/slide9.xml" Id="R2cce09ba1ded41b4" /><Relationship Type="http://schemas.openxmlformats.org/officeDocument/2006/relationships/slide" Target="/ppt/slides/slide10.xml" Id="Rc3872cc53b2d446d" /><Relationship Type="http://schemas.openxmlformats.org/officeDocument/2006/relationships/slide" Target="/ppt/slides/slide11.xml" Id="R40da8a35639f49d8" /><Relationship Type="http://schemas.openxmlformats.org/officeDocument/2006/relationships/slide" Target="/ppt/slides/slide12.xml" Id="Rc3598b9cf1b94854" /><Relationship Type="http://schemas.openxmlformats.org/officeDocument/2006/relationships/slide" Target="/ppt/slides/slide13.xml" Id="R32ab34823a684805" /><Relationship Type="http://schemas.openxmlformats.org/officeDocument/2006/relationships/slide" Target="/ppt/slides/slide14.xml" Id="R5c46f2224bf24ace" /><Relationship Type="http://schemas.openxmlformats.org/officeDocument/2006/relationships/slide" Target="/ppt/slides/slide15.xml" Id="Rbe65d3e71b844705" /><Relationship Type="http://schemas.openxmlformats.org/officeDocument/2006/relationships/slide" Target="/ppt/slides/slide16.xml" Id="R6e3854276d294d4a" /><Relationship Type="http://schemas.openxmlformats.org/officeDocument/2006/relationships/slide" Target="/ppt/slides/slide17.xml" Id="R0eacb079a6cd47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3d1f33bff647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6629ae894846cc" /><Relationship Type="http://schemas.openxmlformats.org/officeDocument/2006/relationships/notesMaster" Target="/ppt/notesMasters/notesMaster1.xml" Id="Rdf3d1c80d65c46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04cee5c4674d0d" /><Relationship Type="http://schemas.openxmlformats.org/officeDocument/2006/relationships/notesMaster" Target="/ppt/notesMasters/notesMaster1.xml" Id="R7a39a92de6b64b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fa0fdde7d144a0" /><Relationship Type="http://schemas.openxmlformats.org/officeDocument/2006/relationships/notesMaster" Target="/ppt/notesMasters/notesMaster1.xml" Id="Rd674b91a6ef445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3d28f8701448d3" /><Relationship Type="http://schemas.openxmlformats.org/officeDocument/2006/relationships/notesMaster" Target="/ppt/notesMasters/notesMaster1.xml" Id="R5cec3203722343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9bf72610b44417" /><Relationship Type="http://schemas.openxmlformats.org/officeDocument/2006/relationships/notesMaster" Target="/ppt/notesMasters/notesMaster1.xml" Id="Rd65813907d8249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f060f295f44f4f" /><Relationship Type="http://schemas.openxmlformats.org/officeDocument/2006/relationships/notesMaster" Target="/ppt/notesMasters/notesMaster1.xml" Id="R6973a8ed8d634c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d297697cd54043" /><Relationship Type="http://schemas.openxmlformats.org/officeDocument/2006/relationships/notesMaster" Target="/ppt/notesMasters/notesMaster1.xml" Id="Rc3a9bba4fd8048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496f5401d94bfe" /><Relationship Type="http://schemas.openxmlformats.org/officeDocument/2006/relationships/notesMaster" Target="/ppt/notesMasters/notesMaster1.xml" Id="Rbbe1d6768c8241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c60b2330f542b7" /><Relationship Type="http://schemas.openxmlformats.org/officeDocument/2006/relationships/notesMaster" Target="/ppt/notesMasters/notesMaster1.xml" Id="R0e8e2ca51bdc45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29e23b17764842" /><Relationship Type="http://schemas.openxmlformats.org/officeDocument/2006/relationships/notesMaster" Target="/ppt/notesMasters/notesMaster1.xml" Id="R5d74b83645d545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ff92c2b0884c69" /><Relationship Type="http://schemas.openxmlformats.org/officeDocument/2006/relationships/notesMaster" Target="/ppt/notesMasters/notesMaster1.xml" Id="R9224e1d3e86245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884f71c894461a" /><Relationship Type="http://schemas.openxmlformats.org/officeDocument/2006/relationships/notesMaster" Target="/ppt/notesMasters/notesMaster1.xml" Id="Redf488c8d1944f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d743065ea64a67" /><Relationship Type="http://schemas.openxmlformats.org/officeDocument/2006/relationships/notesMaster" Target="/ppt/notesMasters/notesMaster1.xml" Id="R6036e90678a445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69b8da790a4bc4" /><Relationship Type="http://schemas.openxmlformats.org/officeDocument/2006/relationships/notesMaster" Target="/ppt/notesMasters/notesMaster1.xml" Id="R1f5dd9d523f440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03f50422fe4f39" /><Relationship Type="http://schemas.openxmlformats.org/officeDocument/2006/relationships/notesMaster" Target="/ppt/notesMasters/notesMaster1.xml" Id="R4cdc829013eb4e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2df388edc649ca" /><Relationship Type="http://schemas.openxmlformats.org/officeDocument/2006/relationships/notesMaster" Target="/ppt/notesMasters/notesMaster1.xml" Id="Rf0522b349c9246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6dc8a3ff2e94b11" /><Relationship Type="http://schemas.openxmlformats.org/officeDocument/2006/relationships/notesMaster" Target="/ppt/notesMasters/notesMaster1.xml" Id="Ra25b320102f247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hasil: fondasi produk sudah ada, tetapi loop komersial belum menjadi satu state machine. Deck ini memisahkan investasi wajib, usage-based, dan media spend.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file:///C:/Users/USER/OneDrive/Documents/Dokumen%20Binahub/website-prod/public/full-logo.png</a:t>
            </a:r>
          </a:p>
          <a:p xmlns:a="http://schemas.openxmlformats.org/drawingml/2006/main">
            <a:r>
              <a:t>- file:///C:/Users/USER/OneDrive/Documents/Dokumen%20Binahub/website-prod/public/asset/ai-globe.png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Readiness di slide ini berbasis audit repository, bukan verifikasi deployment production atau kontrak vendor aktif.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file:///C:/Users/USER/OneDrive/Documents/Dokumen%20Binahub/website-prod/src/app/insight/page.tsx</a:t>
            </a:r>
          </a:p>
          <a:p xmlns:a="http://schemas.openxmlformats.org/drawingml/2006/main">
            <a:r>
              <a:t>- file:///C:/Users/USER/OneDrive/Documents/Dokumen%20Binahub/binahub-api/src/app/api/assessment/route.ts</a:t>
            </a:r>
          </a:p>
          <a:p xmlns:a="http://schemas.openxmlformats.org/drawingml/2006/main">
            <a:r>
              <a:t>- file:///C:/Users/USER/OneDrive/Documents/Dokumen%20Binahub/binahub-api/src/app/api/admin/follow-up/route.ts</a:t>
            </a:r>
          </a:p>
          <a:p xmlns:a="http://schemas.openxmlformats.org/drawingml/2006/main">
            <a:r>
              <a:t>- file:///C:/Users/USER/OneDrive/Documents/Dokumen%20Binahub/app-binahub/src/lib/program-modules.ts</a:t>
            </a:r>
          </a:p>
          <a:p xmlns:a="http://schemas.openxmlformats.org/drawingml/2006/main">
            <a:r>
              <a:t>- file:///C:/Users/USER/OneDrive/Documents/Dokumen%20Binahub/binahub-api/src/app/api/admin/project-autopilot/route.ts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 memperhalus sketsa CEO menjadi operating model. Lead adalah titik human-in-the-loop utama; Retain mengalir balik ke data konsumen.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file:///C:/Users/USER/Downloads/BinaHub%20Business%20Process.png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Apollo diposisikan sebagai penyedia data/prospecting berizin; enhanced conversions dan UTM menutup loop ads ke outcome offline.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file:///C:/Users/USER/OneDrive/Documents/Dokumen%20Binahub/website-prod/src/app/insight/page.tsx</a:t>
            </a:r>
          </a:p>
          <a:p xmlns:a="http://schemas.openxmlformats.org/drawingml/2006/main">
            <a:r>
              <a:t>- https://docs.apollo.io/reference/search-for-contacts</a:t>
            </a:r>
          </a:p>
          <a:p xmlns:a="http://schemas.openxmlformats.org/drawingml/2006/main">
            <a:r>
              <a:t>- https://support.google.com/google-ads/answer/10868881?hl=en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BinaInsight harus tetap gratis dan tanpa autentikasi. Untuk program, modul BinaInsight sudah terdaftar dan assessment dapat ditautkan ke program/participant.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file:///C:/Users/USER/OneDrive/Documents/Dokumen%20Binahub/website-prod/src/app/insight/page.tsx</a:t>
            </a:r>
          </a:p>
          <a:p xmlns:a="http://schemas.openxmlformats.org/drawingml/2006/main">
            <a:r>
              <a:t>- file:///C:/Users/USER/OneDrive/Documents/Dokumen%20Binahub/binahub-api/src/app/api/assessment/route.ts</a:t>
            </a:r>
          </a:p>
          <a:p xmlns:a="http://schemas.openxmlformats.org/drawingml/2006/main">
            <a:r>
              <a:t>- file:///C:/Users/USER/OneDrive/Documents/Dokumen%20Binahub/binahub-api/src/lib/pdf-service.tsx</a:t>
            </a:r>
          </a:p>
          <a:p xmlns:a="http://schemas.openxmlformats.org/drawingml/2006/main">
            <a:r>
              <a:t>- file:///C:/Users/USER/OneDrive/Documents/Dokumen%20Binahub/binahub-api/src/app/api/proposal/request/route.ts</a:t>
            </a:r>
          </a:p>
          <a:p xmlns:a="http://schemas.openxmlformats.org/drawingml/2006/main">
            <a:r>
              <a:t>- file:///C:/Users/USER/OneDrive/Documents/Dokumen%20Binahub/binahub-api/supabase/migrations/0022_binainsight_program_module.sql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Skor threshold adalah desain usulan, bukan fakta dari sistem saat ini. Sistem sekarang menggunakan hot/warm/cold pada AI dan label operasional berbeda pada admin.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file:///C:/Users/USER/OneDrive/Documents/Dokumen%20Binahub/binahub-api/src/lib/ai-service.ts</a:t>
            </a:r>
          </a:p>
          <a:p xmlns:a="http://schemas.openxmlformats.org/drawingml/2006/main">
            <a:r>
              <a:t>- file:///C:/Users/USER/OneDrive/Documents/Dokumen%20Binahub/binahub-api/src/lib/admin-mutation-schemas.ts</a:t>
            </a:r>
          </a:p>
          <a:p xmlns:a="http://schemas.openxmlformats.org/drawingml/2006/main">
            <a:r>
              <a:t>- https://supabase.com/docs/guides/queues</a:t>
            </a:r>
          </a:p>
          <a:p xmlns:a="http://schemas.openxmlformats.org/drawingml/2006/main">
            <a:r>
              <a:t>- https://supabase.com/docs/guides/cron/quickstart</a:t>
            </a:r>
          </a:p>
          <a:p xmlns:a="http://schemas.openxmlformats.org/drawingml/2006/main">
            <a:r>
              <a:t>- https://developer.calendly.com/api-use-cases</a:t>
            </a:r>
          </a:p>
          <a:p xmlns:a="http://schemas.openxmlformats.org/drawingml/2006/main">
            <a:r>
              <a:t>- https://developer.calendly.com/receive-data-from-scheduled-events-in-real-time-with-webhook-subscriptions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follow-up saat ini menghitung due date dari created/result/proposal timestamps. Desain target memakai last meaningful activity dan webhook 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file:///C:/Users/USER/OneDrive/Documents/Dokumen%20Binahub/binahub-api/src/app/api/admin/follow-up/route.ts</a:t>
            </a:r>
          </a:p>
          <a:p xmlns:a="http://schemas.openxmlformats.org/drawingml/2006/main">
            <a:r>
              <a:t>- file:///C:/Users/USER/OneDrive/Documents/Dokumen%20Binahub/binahub-api/src/lib/email-service.ts</a:t>
            </a:r>
          </a:p>
          <a:p xmlns:a="http://schemas.openxmlformats.org/drawingml/2006/main">
            <a:r>
              <a:t>- file:///C:/Users/USER/OneDrive/Documents/Dokumen%20Binahub/binahub-api/supabase/migrations/0022_binainsight_program_module.sql</a:t>
            </a:r>
          </a:p>
          <a:p xmlns:a="http://schemas.openxmlformats.org/drawingml/2006/main">
            <a:r>
              <a:t>- https://resend.com/docs/webhooks/event-types</a:t>
            </a:r>
          </a:p>
          <a:p xmlns:a="http://schemas.openxmlformats.org/drawingml/2006/main">
            <a:r>
              <a:t>- https://supabase.com/docs/guides/queues</a:t>
            </a:r>
          </a:p>
          <a:p xmlns:a="http://schemas.openxmlformats.org/drawingml/2006/main">
            <a:r>
              <a:t>- https://supabase.com/docs/guides/cron/quickstart</a:t>
            </a:r>
          </a:p>
          <a:p xmlns:a="http://schemas.openxmlformats.org/drawingml/2006/main">
            <a:r>
              <a:t>- https://developer.calendly.com/receive-data-from-scheduled-events-in-real-time-with-webhook-subscriptions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blocked berarti code path ada, tetapi clean deployment dari migrations tidak menjamin seluruh tabel/kolom yang dirujuk Autopilot tersedia.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file:///C:/Users/USER/OneDrive/Documents/Dokumen%20Binahub/app-binahub/src/app/admin/engagements/page.tsx</a:t>
            </a:r>
          </a:p>
          <a:p xmlns:a="http://schemas.openxmlformats.org/drawingml/2006/main">
            <a:r>
              <a:t>- file:///C:/Users/USER/OneDrive/Documents/Dokumen%20Binahub/app-binahub/src/lib/program-modules.ts</a:t>
            </a:r>
          </a:p>
          <a:p xmlns:a="http://schemas.openxmlformats.org/drawingml/2006/main">
            <a:r>
              <a:t>- file:///C:/Users/USER/OneDrive/Documents/Dokumen%20Binahub/binahub-api/src/app/api/admin/project-autopilot/route.ts</a:t>
            </a:r>
          </a:p>
          <a:p xmlns:a="http://schemas.openxmlformats.org/drawingml/2006/main">
            <a:r>
              <a:t>- file:///C:/Users/USER/OneDrive/Documents/Dokumen%20Binahub/binahub-api/supabase/migrations/0007_admin_tables.sql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harus memperbarui Data Konsumen melalui relationship history, bukan menghapus PIC lama. Ini menjaga institutional memory saat HRD berubah.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file:///C:/Users/USER/OneDrive/Documents/Dokumen%20Binahub/app-binahub/src/app/admin/engagements/page.tsx</a:t>
            </a:r>
          </a:p>
          <a:p xmlns:a="http://schemas.openxmlformats.org/drawingml/2006/main">
            <a:r>
              <a:t>- file:///C:/Users/USER/OneDrive/Documents/Dokumen%20Binahub/binahub-api/src/lib/transformation/service.ts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Keputusan: jangan membeli Trigger.dev sekarang. Gunakan Supabase Cron + Queues dan transactional outbox sebagai baseline. Trigger.dev hanya opsi fase berikut jika durable execution, wait multi-hari, retry, dan observability workflow menjadi beban operasional. PostHog mengukur funnel; Sentry menangkap error dan job gagal—keduanya bukan system of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https://trigger.dev/pricing</a:t>
            </a:r>
          </a:p>
          <a:p xmlns:a="http://schemas.openxmlformats.org/drawingml/2006/main">
            <a:r>
              <a:t>- https://supabase.com/docs/guides/queues</a:t>
            </a:r>
          </a:p>
          <a:p xmlns:a="http://schemas.openxmlformats.org/drawingml/2006/main">
            <a:r>
              <a:t>- https://supabase.com/docs/guides/cron/quickstart</a:t>
            </a:r>
          </a:p>
          <a:p xmlns:a="http://schemas.openxmlformats.org/drawingml/2006/main">
            <a:r>
              <a:t>- https://posthog.com/</a:t>
            </a:r>
          </a:p>
          <a:p xmlns:a="http://schemas.openxmlformats.org/drawingml/2006/main">
            <a:r>
              <a:t>- https://sentry.io/pricing/</a:t>
            </a:r>
          </a:p>
          <a:p xmlns:a="http://schemas.openxmlformats.org/drawingml/2006/main">
            <a:r>
              <a:t>- https://developer.calendly.com/receive-data-from-scheduled-events-in-real-time-with-webhook-subscriptions</a:t>
            </a:r>
          </a:p>
          <a:p xmlns:a="http://schemas.openxmlformats.org/drawingml/2006/main">
            <a:r>
              <a:t>- https://resend.com/docs/webhooks/event-types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Mirror menunjukkan BinaInsight juga ada di app; sumber publik utama tetap website-prod sesuai arahan. Status blocked pada delivery terutama berasal dari schema drift Automation Center.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file:///C:/Users/USER/OneDrive/Documents/Dokumen%20Binahub/website-prod/src/app/insight/page.tsx</a:t>
            </a:r>
          </a:p>
          <a:p xmlns:a="http://schemas.openxmlformats.org/drawingml/2006/main">
            <a:r>
              <a:t>- file:///C:/Users/USER/OneDrive/Documents/Dokumen%20Binahub/app-binahub/src/app/admin/assessments/page.tsx</a:t>
            </a:r>
          </a:p>
          <a:p xmlns:a="http://schemas.openxmlformats.org/drawingml/2006/main">
            <a:r>
              <a:t>- file:///C:/Users/USER/OneDrive/Documents/Dokumen%20Binahub/app-binahub/src/lib/program-modules.ts</a:t>
            </a:r>
          </a:p>
          <a:p xmlns:a="http://schemas.openxmlformats.org/drawingml/2006/main">
            <a:r>
              <a:t>- file:///C:/Users/USER/OneDrive/Documents/Dokumen%20Binahub/binahub-api/src/app/api/assessment/route.ts</a:t>
            </a:r>
          </a:p>
          <a:p xmlns:a="http://schemas.openxmlformats.org/drawingml/2006/main">
            <a:r>
              <a:t>- file:///C:/Users/USER/OneDrive/Documents/Dokumen%20Binahub/binahub-api/src/lib/pdf-service.tsx</a:t>
            </a:r>
          </a:p>
          <a:p xmlns:a="http://schemas.openxmlformats.org/drawingml/2006/main">
            <a:r>
              <a:t>- file:///C:/Users/USER/OneDrive/Documents/Dokumen%20Binahub/binahub-api/src/app/api/admin/follow-up/route.ts</a:t>
            </a:r>
          </a:p>
          <a:p xmlns:a="http://schemas.openxmlformats.org/drawingml/2006/main">
            <a:r>
              <a:t>- file:///C:/Users/USER/OneDrive/Documents/Dokumen%20Binahub/binahub-api/src/app/api/admin/project-autopilot/route.ts</a:t>
            </a:r>
          </a:p>
          <a:p xmlns:a="http://schemas.openxmlformats.org/drawingml/2006/main">
            <a:r>
              <a:t>- file:///C:/Users/USER/OneDrive/Documents/Dokumen%20Binahub/app-binahub/src/lib/analytics.ts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Temuan P0 dibuktikan dari route dan migrations lokal. Worker event_queue memilih pending lalu mengubah processing pada call terpisah; failed event tidak otomatis dijadwalkan ulang.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file:///C:/Users/USER/OneDrive/Documents/Dokumen%20Binahub/binahub-api/src/app/api/admin/project-autopilot/route.ts</a:t>
            </a:r>
          </a:p>
          <a:p xmlns:a="http://schemas.openxmlformats.org/drawingml/2006/main">
            <a:r>
              <a:t>- file:///C:/Users/USER/OneDrive/Documents/Dokumen%20Binahub/binahub-api/supabase/migrations/0007_admin_tables.sql</a:t>
            </a:r>
          </a:p>
          <a:p xmlns:a="http://schemas.openxmlformats.org/drawingml/2006/main">
            <a:r>
              <a:t>- file:///C:/Users/USER/OneDrive/Documents/Dokumen%20Binahub/binahub-api/src/app/api/contact/route.ts</a:t>
            </a:r>
          </a:p>
          <a:p xmlns:a="http://schemas.openxmlformats.org/drawingml/2006/main">
            <a:r>
              <a:t>- file:///C:/Users/USER/OneDrive/Documents/Dokumen%20Binahub/website-prod/src/components/chat-bot.tsx</a:t>
            </a:r>
          </a:p>
          <a:p xmlns:a="http://schemas.openxmlformats.org/drawingml/2006/main">
            <a:r>
              <a:t>- file:///C:/Users/USER/OneDrive/Documents/Dokumen%20Binahub/binahub-api/src/app/api/chat/route.ts</a:t>
            </a:r>
          </a:p>
          <a:p xmlns:a="http://schemas.openxmlformats.org/drawingml/2006/main">
            <a:r>
              <a:t>- file:///C:/Users/USER/OneDrive/Documents/Dokumen%20Binahub/binahub-api/src/lib/ai-service.ts</a:t>
            </a:r>
          </a:p>
          <a:p xmlns:a="http://schemas.openxmlformats.org/drawingml/2006/main">
            <a:r>
              <a:t>- file:///C:/Users/USER/OneDrive/Documents/Dokumen%20Binahub/binahub-api/src/lib/admin-mutation-schemas.ts</a:t>
            </a:r>
          </a:p>
          <a:p xmlns:a="http://schemas.openxmlformats.org/drawingml/2006/main">
            <a:r>
              <a:t>- file:///C:/Users/USER/OneDrive/Documents/Dokumen%20Binahub/binahub-api/src/lib/transformation/service.ts</a:t>
            </a:r>
          </a:p>
          <a:p xmlns:a="http://schemas.openxmlformats.org/drawingml/2006/main">
            <a:r>
              <a:t>- file:///C:/Users/USER/OneDrive/Documents/Dokumen%20Binahub/binahub-api/src/lib/email-service.ts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Lean Production menggunakan Vercel $20 + Supabase $25 + Calendly Standard $10 (annual billing); Resend, PostHog, dan Sentry mulai dari free. Email Pro menambah Resend $20. Apollo Basic pada screenshot monthly billing adalah $65/seat/bulan; harga annual equivalent resmi dapat berbeda. Trigger.dev tidak termasuk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https://vercel.com/pricing</a:t>
            </a:r>
          </a:p>
          <a:p xmlns:a="http://schemas.openxmlformats.org/drawingml/2006/main">
            <a:r>
              <a:t>- https://supabase.com/pricing</a:t>
            </a:r>
          </a:p>
          <a:p xmlns:a="http://schemas.openxmlformats.org/drawingml/2006/main">
            <a:r>
              <a:t>- https://resend.com/pricing</a:t>
            </a:r>
          </a:p>
          <a:p xmlns:a="http://schemas.openxmlformats.org/drawingml/2006/main">
            <a:r>
              <a:t>- https://calendly.com/pricing/</a:t>
            </a:r>
          </a:p>
          <a:p xmlns:a="http://schemas.openxmlformats.org/drawingml/2006/main">
            <a:r>
              <a:t>- https://trigger.dev/pricing</a:t>
            </a:r>
          </a:p>
          <a:p xmlns:a="http://schemas.openxmlformats.org/drawingml/2006/main">
            <a:r>
              <a:t>- https://www.apollo.io/pricing</a:t>
            </a:r>
          </a:p>
          <a:p xmlns:a="http://schemas.openxmlformats.org/drawingml/2006/main">
            <a:r>
              <a:t>- https://posthog.com/</a:t>
            </a:r>
          </a:p>
          <a:p xmlns:a="http://schemas.openxmlformats.org/drawingml/2006/main">
            <a:r>
              <a:t>- https://sentry.io/pricing/</a:t>
            </a:r>
          </a:p>
          <a:p xmlns:a="http://schemas.openxmlformats.org/drawingml/2006/main">
            <a:r>
              <a:t>- https://www.bi.go.id/en/statistik/informasi-kurs/transaksi-bi/jisdor/default.aspx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Harga yang ditampilkan adalah list price resmi saat riset. Apollo/Calendly annual pricing membutuhkan pembayaran tahunan walau disajikan per bulan; harga aktual invoice dapat berubah karena pajak dan kurs.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https://vercel.com/pricing</a:t>
            </a:r>
          </a:p>
          <a:p xmlns:a="http://schemas.openxmlformats.org/drawingml/2006/main">
            <a:r>
              <a:t>- https://supabase.com/pricing</a:t>
            </a:r>
          </a:p>
          <a:p xmlns:a="http://schemas.openxmlformats.org/drawingml/2006/main">
            <a:r>
              <a:t>- https://resend.com/pricing</a:t>
            </a:r>
          </a:p>
          <a:p xmlns:a="http://schemas.openxmlformats.org/drawingml/2006/main">
            <a:r>
              <a:t>- https://calendly.com/pricing/</a:t>
            </a:r>
          </a:p>
          <a:p xmlns:a="http://schemas.openxmlformats.org/drawingml/2006/main">
            <a:r>
              <a:t>- https://trigger.dev/pricing</a:t>
            </a:r>
          </a:p>
          <a:p xmlns:a="http://schemas.openxmlformats.org/drawingml/2006/main">
            <a:r>
              <a:t>- https://www.apollo.io/pricing</a:t>
            </a:r>
          </a:p>
          <a:p xmlns:a="http://schemas.openxmlformats.org/drawingml/2006/main">
            <a:r>
              <a:t>- https://openrouter.ai/pricing</a:t>
            </a:r>
          </a:p>
          <a:p xmlns:a="http://schemas.openxmlformats.org/drawingml/2006/main">
            <a:r>
              <a:t>- https://posthog.com/</a:t>
            </a:r>
          </a:p>
          <a:p xmlns:a="http://schemas.openxmlformats.org/drawingml/2006/main">
            <a:r>
              <a:t>- https://sentry.io/pricing/</a:t>
            </a:r>
          </a:p>
          <a:p xmlns:a="http://schemas.openxmlformats.org/drawingml/2006/main">
            <a:r>
              <a:t>- https://www.bi.go.id/en/statistik/informasi-kurs/transaksi-bi/jisdor/default.aspx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Envelope variable adalah rekomendasi internal untuk budgeting. Angka bukan harga resmi Google/Meta atau jaminan hasil. Pengukuran 30 hari pertama harus menentukan alokasi berikutnya.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https://www.bi.go.id/en/statistik/informasi-kurs/transaksi-bi/jisdor/default.aspx</a:t>
            </a:r>
          </a:p>
          <a:p xmlns:a="http://schemas.openxmlformats.org/drawingml/2006/main">
            <a:r>
              <a:t>- https://support.google.com/google-ads/answer/10868881?hl=en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mengutamakan reliability sebelum acquisition scale. Calendly dan Apollo dibeli saat fase relevan. Evaluasi Trigger.dev pada hari 60 hanya jika Supabase Cron/Queues tidak lagi memadai.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https://trigger.dev/pricing</a:t>
            </a:r>
          </a:p>
          <a:p xmlns:a="http://schemas.openxmlformats.org/drawingml/2006/main">
            <a:r>
              <a:t>- https://supabase.com/docs/guides/queues</a:t>
            </a:r>
          </a:p>
          <a:p xmlns:a="http://schemas.openxmlformats.org/drawingml/2006/main">
            <a:r>
              <a:t>- https://supabase.com/docs/guides/cron/quickstart</a:t>
            </a:r>
          </a:p>
          <a:p xmlns:a="http://schemas.openxmlformats.org/drawingml/2006/main">
            <a:r>
              <a:t>- https://calendly.com/pricing/</a:t>
            </a:r>
          </a:p>
          <a:p xmlns:a="http://schemas.openxmlformats.org/drawingml/2006/main">
            <a:r>
              <a:t>- https://www.apollo.io/pricing</a:t>
            </a:r>
          </a:p>
          <a:p xmlns:a="http://schemas.openxmlformats.org/drawingml/2006/main">
            <a:r>
              <a:t>- https://posthog.com/</a:t>
            </a:r>
          </a:p>
          <a:p xmlns:a="http://schemas.openxmlformats.org/drawingml/2006/main">
            <a:r>
              <a:t>- https://sentry.io/pricing/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Tutup dengan keputusan, bukan fitur. Begitu enam guardrail disetujui, workflow dapat dibangun tanpa banyak keputusan ad hoc di tengah implementasi.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https://www.bi.go.id/en/statistik/informasi-kurs/transaksi-bi/jisdor/default.aspx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c8862068f4e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ddaf88add443b8" /><Relationship Type="http://schemas.openxmlformats.org/officeDocument/2006/relationships/slideLayout" Target="/ppt/slideLayouts/slideLayout1.xml" Id="R6ef5b021ebfe41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f5b021ebfe41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36b3f4be54067" /><Relationship Type="http://schemas.openxmlformats.org/officeDocument/2006/relationships/image" Target="/ppt/media/image.png" Id="Rdac42cc657b64c11" /><Relationship Type="http://schemas.openxmlformats.org/officeDocument/2006/relationships/image" Target="/ppt/media/image2.png" Id="Rdda504f0276c4f53" /><Relationship Type="http://schemas.openxmlformats.org/officeDocument/2006/relationships/notesSlide" Target="/ppt/notesSlides/notesSlide1.xml" Id="R49739a12a0a44e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6fbdd1b2440f3" /><Relationship Type="http://schemas.openxmlformats.org/officeDocument/2006/relationships/notesSlide" Target="/ppt/notesSlides/notesSlide2.xml" Id="R6fc5225330fa40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f40b4d0ac4805" /><Relationship Type="http://schemas.openxmlformats.org/officeDocument/2006/relationships/notesSlide" Target="/ppt/notesSlides/notesSlide3.xml" Id="R820b67f21abb48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1171456e647e7" /><Relationship Type="http://schemas.openxmlformats.org/officeDocument/2006/relationships/notesSlide" Target="/ppt/notesSlides/notesSlide4.xml" Id="R35bc89b412ce4a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53e025a51457e" /><Relationship Type="http://schemas.openxmlformats.org/officeDocument/2006/relationships/notesSlide" Target="/ppt/notesSlides/notesSlide5.xml" Id="Re884e3c326794b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37e621bd84805" /><Relationship Type="http://schemas.openxmlformats.org/officeDocument/2006/relationships/notesSlide" Target="/ppt/notesSlides/notesSlide6.xml" Id="R6c9d5f939e6140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019d519564eab" /><Relationship Type="http://schemas.openxmlformats.org/officeDocument/2006/relationships/notesSlide" Target="/ppt/notesSlides/notesSlide7.xml" Id="R7699bb4f6e9d4b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c13fce2264d03" /><Relationship Type="http://schemas.openxmlformats.org/officeDocument/2006/relationships/notesSlide" Target="/ppt/notesSlides/notesSlide8.xml" Id="R22e8127ee95b4b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628fccfb14c93" /><Relationship Type="http://schemas.openxmlformats.org/officeDocument/2006/relationships/notesSlide" Target="/ppt/notesSlides/notesSlide9.xml" Id="Rf54ff9fae91443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9206f033a49ce" /><Relationship Type="http://schemas.openxmlformats.org/officeDocument/2006/relationships/notesSlide" Target="/ppt/notesSlides/notesSlide10.xml" Id="Rd645e0da2e044d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717e758b449c2" /><Relationship Type="http://schemas.openxmlformats.org/officeDocument/2006/relationships/notesSlide" Target="/ppt/notesSlides/notesSlide11.xml" Id="R7a6e8efe9efd46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ed4203db54d06" /><Relationship Type="http://schemas.openxmlformats.org/officeDocument/2006/relationships/notesSlide" Target="/ppt/notesSlides/notesSlide12.xml" Id="R148447584a2f46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5b8eec9984f13" /><Relationship Type="http://schemas.openxmlformats.org/officeDocument/2006/relationships/notesSlide" Target="/ppt/notesSlides/notesSlide13.xml" Id="Rd19a556f7cfd4b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9c4ac768145a8" /><Relationship Type="http://schemas.openxmlformats.org/officeDocument/2006/relationships/notesSlide" Target="/ppt/notesSlides/notesSlide14.xml" Id="R17cc9efcb44840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36a3c1d17499a" /><Relationship Type="http://schemas.openxmlformats.org/officeDocument/2006/relationships/notesSlide" Target="/ppt/notesSlides/notesSlide15.xml" Id="R508a57f7bc09466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816b542e04ea9" /><Relationship Type="http://schemas.openxmlformats.org/officeDocument/2006/relationships/notesSlide" Target="/ppt/notesSlides/notesSlide16.xml" Id="R2d038c6f4f4d45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de9a734a4463e" /><Relationship Type="http://schemas.openxmlformats.org/officeDocument/2006/relationships/notesSlide" Target="/ppt/notesSlides/notesSlide17.xml" Id="R0a617e45541f43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4148D-1DEA-45A6-83D5-C00C0A98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CEO DECISION DECK · 25 AGUSTUS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248F2-212E-427A-B8B9-D2F88183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5334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BinaHub AI</a:t>
            </a:r>
          </a:p>
          <a:p xmlns:a="http://schemas.openxmlformats.org/drawingml/2006/main">
            <a:pPr algn="l">
              <a:defRPr sz="4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Business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E6722-82A1-4CE0-AC89-DCA8818F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523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Workflow end-to-end, kesiapan sistem, stack, human-in-the-loop, dan investasi bulanan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27853-8235-4100-ABEC-CB449641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5238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DE296-9032-4267-AE3A-6C8790D9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TUJUAN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C64DF-EE33-4BC8-B543-41040ABA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Mengubah enam tahap bisnis menjadi satu loop yang terukur—AI menangani volume; manusia menjaga keputusan bernilai tinggi.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E116F-A642-4FF1-BAF9-E0CEAD03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"/>
            <a:ext cx="5638800" cy="56007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42cc657b64c11"/>
          <a:stretch xmlns:a="http://schemas.openxmlformats.org/drawingml/2006/main"/>
        </p:blipFill>
        <p:spPr>
          <a:xfrm xmlns:a="http://schemas.openxmlformats.org/drawingml/2006/main">
            <a:off x="6496050" y="7048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C623F-F819-4F35-BBD7-8BD3A292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819150"/>
            <a:ext cx="1981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B1065-27EF-430F-A1B3-47470415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8286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DATA → PROSPECT → LEAD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C7E97-7425-4A2C-8E0C-377E495B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1150"/>
            <a:ext cx="2057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FD17B-EBA9-41F4-B56B-5E041DA6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906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FOLLOW-UP → 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AE34D-BAFA-4619-A4DA-BF257F54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5300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86084-9AE1-49C5-BC3E-7761DF14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625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RETAIN → DATA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504f0276c4f53"/>
          <a:stretch xmlns:a="http://schemas.openxmlformats.org/drawingml/2006/main"/>
        </p:blipFill>
        <p:spPr>
          <a:xfrm xmlns:a="http://schemas.openxmlformats.org/drawingml/2006/main">
            <a:off x="644638" y="5943600"/>
            <a:ext cx="1606323" cy="4572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9727B-6504-4095-B3C5-D2B54228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539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Disusun dari audit code-based: app-binahub · binahub-api · website-prod</a:t>
            </a:r>
          </a:p>
        </p:txBody>
      </p:sp>
    </p:spTree>
    <p:extLst>
      <p:ext uri="{BB962C8B-B14F-4D97-AF65-F5344CB8AC3E}">
        <p14:creationId xmlns:p14="http://schemas.microsoft.com/office/powerpoint/2010/main" val="15367270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D67C3-3EDB-4E7D-B21A-CF95BE20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RINGKASAN EKSEKUTIF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25F5C-DD98-42DC-A539-36FEA34F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8B11E-A52D-470B-AC64-CE40406E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D8C18-2941-4852-A1B8-3B466CBA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Fondasi siap; mesin pertumbuhan belum tersambung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E10AD-5638-40E8-B8B1-5144EDED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Keputusan terbaik bukan membeli semua tools sekaligus, melainkan menuntaskan satu vertical slice yang dapat diukur.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77A33-136D-48DF-A35E-86EF14BC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6235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9B839-0416-4E30-9A03-55D13FFF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SUDAH SIAP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3CE1A-B3EA-4986-AAFB-1C9256A7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FC422-A714-4C94-BC9E-1868D94D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BinaInsight publik, scoring, PDF + email, admin assessment, modul program, engagement dan delivery dasar.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8F96B-E842-4612-8042-07CA7752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90700"/>
            <a:ext cx="356235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FDDDB-8A8A-47F3-965E-37A26BD8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PERLU DIPERKERAS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D1DEE-110A-4DF1-982E-2776C876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622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F85A4-BF41-4A67-9A31-63AA35F4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Lifecycle/status, schema migrations, event worker, contact/chat reliability, stop condition follow-up.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18624A-C4C9-428C-8D17-5729A951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356235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9B7F1-7A4D-4B3D-8083-CC60E38C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00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PERLU DIBANGUN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031F6-0988-4B55-B58D-17A4BEAF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GROWTH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2E826-17A0-43BF-A955-6D06E1D5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Attribution, Apollo workflow, Calendly webhook, pricing configurator, client health dan retain playbook.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5CC41-A7C6-404B-A01C-F2040F99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58B40-2B63-4C68-B127-4C5C4D92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REKOMENDASI CEO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B6B49-1AD2-4AED-9277-302B201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673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Mulai dari core $55/bulan; selesaikan P0; lalu tambah email dan outbound hanya setelah funnel terbukti terukur.</a:t>
            </a:r>
          </a:p>
        </p:txBody>
      </p:sp>
    </p:spTree>
    <p:extLst>
      <p:ext uri="{BB962C8B-B14F-4D97-AF65-F5344CB8AC3E}">
        <p14:creationId xmlns:p14="http://schemas.microsoft.com/office/powerpoint/2010/main" val="7078929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BF9BBB-1197-418F-B5CC-CF330AD2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32771-38BA-4137-8D15-D05AE22E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1FEE5-6986-40C0-AFD5-51765DE8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0AF39-469A-4625-BC49-FE84CA3C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Enam tahap; follow-up bekerja sebagai loop lintas tahap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A7C47-EF0A-4E5B-9D60-D7508F63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AI menjalankan pekerjaan standar. Manusia masuk hanya saat scope custom, nilai tinggi, confidence rendah, atau negosiasi.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7011C-A06F-4914-94BB-F042CC48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E99D6-3B9B-4C19-89EA-94AEDA25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48110-2C43-4590-B97A-28DDFCEA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DATA KONSUMEN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BD681-82A7-4724-9F5D-C7956FE3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Awareness + ICP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6123E-AE91-49BE-9E83-1B5CBAD1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800350"/>
            <a:ext cx="76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CC364-6AA1-4B86-BC2D-887160C2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FC41D-C44A-4FE2-8379-DC11F4A5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3C4A0-05FF-4AC7-94A6-31F063B5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PROSPECTING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B6D85-FE10-4057-B1BA-9C0C5175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Assessment selesai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3901C-4E27-43EB-BB87-1064023E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00350"/>
            <a:ext cx="76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B2A99-F5BB-4AB2-AF7F-4BA44B54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7665D-2C18-4350-B7C2-CEC643F0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EE022-62A2-4973-9805-6A723373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CA636-7F5C-4645-BD41-337FA9BC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Qualified opportunity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77853-DBE8-4003-9248-DC0BE709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00350"/>
            <a:ext cx="76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C4013A-F459-47DC-A6B6-8C72FF9C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93E46B-4D0F-4579-8C07-2FD8765D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85621F-2ADE-4855-922E-BFA19786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BD4C31-70D8-4569-8144-DA8D038D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Standard / custom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9B88A-8931-4082-8E53-C8A007E1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00350"/>
            <a:ext cx="76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616E8F-0BC7-4036-9A0D-92872AD6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74C63F-53A9-4537-9E0D-5AC32609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ABA65C-2C69-438F-8D4D-3BC3B1AC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5F9CB9-E690-4C66-9F32-196A147E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Won + delivery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E83A90-E062-43B2-BE04-F6B38BCF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00350"/>
            <a:ext cx="76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D46A5C-5678-42CF-AB27-414E1259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68CE9A-2309-491D-ADAB-F3D2B633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6FFC83-9D2B-47B1-92E9-6BED6F58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RETAIN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B5F6B5-37AF-4A5D-B5C1-3E39EF7D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Health + expansion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9A8119-420C-45E4-AEC2-912D847D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954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756F19-B8F1-4BF3-80E7-5C182EB8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049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HUMAN GATE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85E21A-0F95-41FC-B2D2-FCCFDCB2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954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standard = otomatis · custom/high-value/low-confidence = persetujuan</a:t>
            </a:r>
          </a:p>
        </p:txBody>
      </p:sp>
      <p:cxnSp>
        <p:nvCxnSpPr>
          <p:cNvPr id="86" name=""/>
          <p:cNvCxnSpPr>
            <a:stCxn xmlns:a="http://schemas.openxmlformats.org/drawingml/2006/main" id="6" idx="2"/>
            <a:endCxn xmlns:a="http://schemas.openxmlformats.org/drawingml/2006/main" id="31" idx="2"/>
          </p:cNvCxnSpPr>
          <p:nvPr/>
        </p:nvCxnSpPr>
        <p:spPr>
          <a:xfrm xmlns:a="http://schemas.openxmlformats.org/drawingml/2006/main">
            <a:off x="1300163" y="3695700"/>
            <a:ext cx="9572625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B2C6B"/>
            </a:solidFill>
            <a:prstDash val="solid"/>
            <a:head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09D415-D6F6-4CF0-83A6-5AA108E4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FOLLOW-UP LOOP: setelah assessment, proposal, atau meeting; berhenti saat reply, booking, won/lost, atau unsubscribe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427734-A557-45EB-BF01-2BD74E4D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35623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0C7B70-D5F6-4D5C-9199-38B480DB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Mesin penggerak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DFD2C4-C03B-4B9F-B5F3-EB662842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Event + state machine + audit log; bukan sekadar cron dan rangkaian if/else.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7E9FB3-158D-4761-BE73-5859018D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762500"/>
            <a:ext cx="35623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8DFBBC-9F25-4652-AA9D-FE0B2E70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720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Batas AI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44DE81-7B02-41BC-B83D-ABDF192C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37210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AI mengklasifikasi, menulis, dan meringkas. Harga, diskon, dan transisi status ditentukan rules.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A4A9E2-4F1F-452C-9E1B-4B69B5C6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35623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75D51A-98B0-4AB1-885C-8CA5E3E1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Sumber kebenaran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512936-335B-4766-BBF6-62A48ABC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7210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Organization + contact history + opportunity + engagement + activity timeline.</a:t>
            </a:r>
          </a:p>
        </p:txBody>
      </p:sp>
    </p:spTree>
    <p:extLst>
      <p:ext uri="{BB962C8B-B14F-4D97-AF65-F5344CB8AC3E}">
        <p14:creationId xmlns:p14="http://schemas.microsoft.com/office/powerpoint/2010/main" val="4303518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029316-BE05-434E-BC46-010AA0C9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1 · AWARENESS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0224A-390A-4268-AB48-22312F87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4C8C7-CB5F-43FF-9745-DA53C7D0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A5774-F2AD-4AE3-ACA3-EE5E10E6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Data Konsumen: traffic yang dapat ditelusuri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93D53-7BDE-4AD7-8D81-EB112AA0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membangun audience ICP-fit—bukan sekadar daftar email—dan mengarahkannya ke BinaInsight dengan consent, attribution, dan deliverability yang terjaga.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AE318-CE69-4B73-94BC-68B3FB1F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FF8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F3E56-309F-442B-8747-B7E0889F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SEBAGIAN SIAP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7E4FC-C378-4C99-B6FD-86A40688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Landing `/insight` dan contact path ada; acquisition data pipeline dan attribution belum 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72C66-71BB-457A-A898-08129D57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3AB08-8700-4597-B653-B59ECD57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2171A-8AFC-4A7F-8FD5-52AA4EC7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Ads / referral / Apollo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25DC0-DB67-4FDB-8EA4-0898F629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4EAF8-7504-43C2-85D7-B8FAFF9D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E77B2-3444-4713-9C6B-98B0A424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EC00C-199B-42B4-90A3-A1E37D3E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Consent · dedupe · enrich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44B20B-102B-4A49-855F-A7B37FB3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04F61-48FE-4347-A2AD-64C99B69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14470D-ACB0-4632-98FB-15E46D41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C2666-4633-4045-B69A-C81872D3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Personalized outreach + UTM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E87CA-55A6-49E3-9FC0-CE27C7D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E9B5D7-6B75-489C-8B91-29485E73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507267-779C-4DBF-BAE4-D4EC8B8F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831421-E8CC-41B0-8C0B-8FDF95D0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Landing BinaInsight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A68B29-91EC-4404-AE04-4B98B71F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8AA1AA-B31E-42BC-B66A-F730CA76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FACC49-8D32-43CF-88EA-ED9F8CFA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Segmentasi industri, ukuran, peran, dan pain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Riset akun + personalisasi pesan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Deduplikasi dan suppression check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Optimasi audience dari conversion signal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18D661-6C7D-4899-9754-D1DDA198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E03BBE-4E73-41C8-84D1-0E1A1615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8061FB-7FF0-4A12-89C8-CEEA9B72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Menentukan ICP dan exclusion list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Menyetujui claims iklan dan email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Menjaga etika penggunaan data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Review deliverability dan kualitas lead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E91575-7266-4353-9584-AFACE760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A02379-5C88-4B61-9994-4D2FB7E9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87A4F5-CF25-4AC6-AD98-FF110A6B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Google/Meta Ads · Apollo · website-prod · UTM · Resend · Supabase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D10893-8491-4AA1-B5ED-436CECDA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8DF577-2D0B-45AA-A6F7-22BF9EA4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3A36A9-4C74-4416-9BEC-1D56CB37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Attribution events, consent/suppression, enrichment worker, domain warm-up, dan policy penggunaan data.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FE502A-BEF5-4B60-B4CF-7F8C8AFA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26C34D-651F-4BD7-ADFA-71DFC956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89A153-CF96-4F19-A7A2-20A84A5C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Qualified visit rate · assessment-start rate · cost per completed assessment · bounce/spam 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92E841-0D97-4ED0-AB63-BECE1475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Guardrail: jangan mengandalkan scraping Google/LinkedIn tanpa jalur resmi, izin, dan kebijakan data yang jelas.</a:t>
            </a:r>
          </a:p>
        </p:txBody>
      </p:sp>
    </p:spTree>
    <p:extLst>
      <p:ext uri="{BB962C8B-B14F-4D97-AF65-F5344CB8AC3E}">
        <p14:creationId xmlns:p14="http://schemas.microsoft.com/office/powerpoint/2010/main" val="17504503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D56F3B-F4D1-4ADC-B7EE-F9BA67EE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2 · PROSPECTING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1D6C9-E66D-4538-9618-92E15D77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DCC37-3112-4094-AE14-144A5F51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A0110-6AF7-4DE3-A6E8-4DB6473F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Prospecting: assessment gratis menjadi intent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2ACD2-7E8A-46D9-A7B2-840382C3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mengubah pengunjung anonim menjadi prospect yang telah memberi data, konteks kebutuhan, dan izin untuk ditindaklanjuti.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D4B07-B5FE-4BE5-BAB9-143105D8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FF8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1FB6E-0599-4546-AA54-1774FEFA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SIAP +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A1BD8-1DDF-44F7-A8BC-834DD536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Assessment publik, scoring, PDF, email, dan proposal request sudah ada; configurator harga belum 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A42C6-3B94-4077-9DA4-8D084EDB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FF5A8-C364-44CF-AA79-C76404C9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F555D-3D1E-4B26-A57D-E3CED2B0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Mulai tanpa login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CE1CD-0361-45C4-947E-56193793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B282E-9D61-4592-96C1-0EE846B6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F9E0E-69B2-42B0-88FF-178B14ED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5866C-CF04-49C4-B6C0-12B4C7E1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Data + jawaban + UTM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36AA4-5F27-437D-BA2B-CCAD7E3C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37C99-BFE4-4B08-B608-7AF88EBC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BB71F-5E0D-4A3A-85F8-47E84DD9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3A658-1CBD-406F-88D5-F3442C8F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Score · PDF · email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C99FA-7472-4866-9EAE-C882EA9D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6173A2-D980-44D0-BFAB-65653E2A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3E38C2-A76A-4D3E-A90C-C0B5CB59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DC6DD3-B41E-49FF-B4DD-12627630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Proposal / konsultasi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085FC8-890D-44EA-8C42-E8D2CA0E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B46040-F44E-4C72-8ECE-D1CB0FBC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BA3F0C-B622-4CB2-A971-ADC93801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Analisis hasil 7 dimensi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Ringkasan, risiko, dan rekomendasi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Lead temperature awal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Rekomendasi modul berdasarkan kebutuhan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630114-F05B-4752-A8ED-5FF48CD6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A2CED3-C1FC-4E09-A095-B7316A75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6A5417-91D0-4252-A9F4-689FD853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Tidak perlu untuk kasus standar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Review jika confidence rendah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Validasi kebutuhan custom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Menjaga katalog modul dan narasi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C805B7-DDD4-4153-A8CE-36BF5E92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C15D39-601A-4058-9014-25BEDD85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9C6B18-D950-4F60-8814-D5465E66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website-prod + app-binahub · binahub-api · Supabase · OpenRouter · Resend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FE1240-C49F-4F19-AD0A-CCB3F04D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938306-5DE1-42CE-8D29-CC5C64E5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4DF8E9-EA62-4D49-952A-A0370700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Capture UTM/source, proposal configurator, price catalog/version, deterministic pricing, dan Calendly CTA terintegrasi.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AD5769-427E-4F49-8EC7-D16268C4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0BF5F6-5177-467C-ADAB-88C3C35B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5C6EB3-65ED-4D50-8666-6E1FE97F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Completion rate · valid-contact rate · report delivery rate · proposal-request rate · booking 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F12D78-7D3C-4C2B-8DCB-BEB1C525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Prinsip: AI boleh merekomendasikan paket; rule engine yang menghitung harga dan diskon.</a:t>
            </a:r>
          </a:p>
        </p:txBody>
      </p:sp>
    </p:spTree>
    <p:extLst>
      <p:ext uri="{BB962C8B-B14F-4D97-AF65-F5344CB8AC3E}">
        <p14:creationId xmlns:p14="http://schemas.microsoft.com/office/powerpoint/2010/main" val="20451484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E8340D-04E4-4148-9CF4-A350A964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3 · LEAD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D2457-A073-4DFC-A662-D4CF9194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CA508-AC26-43A9-B135-400F5484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F8867-3E76-453F-8964-C140F6D4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Lead: otomatis untuk standar, human gate untuk custom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52B37-2A64-47E7-88ED-009D7B80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memprioritaskan peluang serius tanpa membuat CEO menjadi bottleneck untuk seluruh proposal dan konsultasi.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18E2E-EE1C-40D6-A3B2-01051552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FF8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DBD68-7B09-45F3-B5D9-E970A1D1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PERLU REDESAIN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D534E-CD9F-4F42-AE35-09BE80C2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AI hot/warm/cold ada, tetapi bercampur dengan lifecycle status dan belum menjadi routing engine.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E4CD1-0878-4E5B-9438-BB62D81B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7165C-550E-42FD-8E37-080A05FB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4E8FB-8242-4207-9C72-FC30F315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Score fit + intent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55944-3A58-431F-A5F6-CF37C5C7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CBFC2-8629-490F-A665-83A8A97F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4A40D-FC9A-4C94-9475-6225544F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50686-4652-483F-81AE-31A2731A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Route cold / warm / 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F3F1B-29F7-4105-A880-981FD4EA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11206-593D-476C-B26F-68F5DDFF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12DC94-D5D2-4F42-A1B4-13B2E695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9D8E3-94A8-422E-BD5C-1F8DCBD9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Standard vs custom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A25362-7BF1-4F0B-8571-FBAB58FC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0391C-EA6F-4B38-905F-4B356AD7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7ECBD7-DBCB-443E-A022-CDD9FD7A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1B36D4-C26B-4668-999E-8C772B78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Proposal + Calendly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3C3D68-1D88-4B67-9133-229B9996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36CA5D-953C-45C6-9B32-ED2C257F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93820E-0D66-483D-BEDF-FF1F884F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Skor fit, intent, urgency, engagement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Susun brief konsultasi + standard proposal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Sarankan next-best action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Buat reminder dan ringkasan meeting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C55D12-74D4-4354-9C62-9C45577B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80BC2C-D1CF-4057-AA00-03221A34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94FFC8-8275-425C-8EDE-49083EE5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Custom scope atau diskon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High-value / reputational risk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Confidence rendah / data konflik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Negosiasi dan keputusan komersial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CD4F4D-23A0-41DB-A789-2908E959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FAD3BB-B659-4753-B06E-552D3AC2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F1347F-79E5-4944-BF4A-0DBD8FDC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Lifecycle state machine · OpenRouter · deterministic rules · Supabase Queue/Cron · Calendly webhooks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DEF3CB-BF42-41D4-B671-A5DE1C44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D097F9-A645-4F13-9DDA-9844C44C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2D67DA-AE58-4F64-AD2F-A8086B2B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Pisahkan lifecycle_stage, lead_temperature, dan opportunity_stage; thresholds; pricing guardrails; meeting webhook.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29F490-3CD0-463E-A3BE-CCCD7F9C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6F31C6-9E09-4C8A-9320-ADB58D23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37A527-44DA-4292-B931-0A7618D9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Speed-to-lead · acceptance rate · meeting show rate · proposal cycle time · win rate by temperature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F9FEB8-4C8B-41BF-9069-79EF6B43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Rekomendasi awal: Hot ≥75 · Warm 50–74 · Cold &lt;50; kalibrasi ulang memakai outcome 90 hari pertama.</a:t>
            </a:r>
          </a:p>
        </p:txBody>
      </p:sp>
    </p:spTree>
    <p:extLst>
      <p:ext uri="{BB962C8B-B14F-4D97-AF65-F5344CB8AC3E}">
        <p14:creationId xmlns:p14="http://schemas.microsoft.com/office/powerpoint/2010/main" val="8948470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425066-8E50-4FF2-AED9-68731BE8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4 ·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2D2A3-F6C8-4E44-955C-CF854D22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161D5-9DB5-413E-A15B-EDC70463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984BE-E405-48D3-B116-D80F6AE7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Follow-up: dipicu aktivitas terakhir, berhenti saat ada sinyal nyata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9689A-7A47-437B-AAA2-9F5D2186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menyelamatkan peluang yang diam tanpa spam, pengiriman ganda, atau pesan yang terus berjalan setelah meeting/deal.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20BCF-EE5A-4DDF-9B63-7452AF56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FF8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4E05F-AB7A-4DB6-B8CD-2B8617CC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FONDASI 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92E2F-3E04-4275-8548-4D2AA625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H+2/H+7/H+14, pause, claim/dedupe, dan Resend ID sudah ada; event feedback belum lengkap.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2972E-EBD2-47AE-AAB9-67A6C10D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CB408-AD6D-45AB-9D5F-858AD292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5E8DA-F5B7-4E0F-A9CC-1E41046F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Anchor activity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8517A-5B35-43E6-8CBA-0A0E1020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BE253-C726-4174-8F94-E7D3F9C4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69CC9-457C-4017-BBC2-F74E846D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355C7-B9C3-4F91-988D-A33BC32D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Wait H+2 / 7 / 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C1C23-8CAD-4978-A6B0-5C379080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3F44A-5EE8-4986-8043-25096739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F6A78-60EA-4EE4-AFD6-AC7BD13D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A77C2-C445-4DB0-A753-CCC020C2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Generate + send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A4F3A-3971-47E1-9CC9-7FE42095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865D7-B110-47A6-8AC1-92950589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D63E7D-DFE2-47BC-8E8E-C10C29F9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FF4D27-F57D-4E7A-8CFB-E122C96B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Observe reply / booking / stop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BFD6F0-829C-460E-B502-B0341455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0742A9-502E-441B-BCB8-71A7765C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F3E4B6-2917-457F-837C-8E163938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Menulis pesan sesuai konteks &amp; tahap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Memilih intent follow-up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Merangkum history untuk sales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Mengusulkan kanal berikutnya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7C867-CBE1-4CCF-AEE2-9CD28113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505214-866D-4D48-81FA-2B127DA7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B4783D-9706-47E7-964C-0C9BB14E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Ambil alih bila prospect membalas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Review custom objection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Pause untuk hubungan sensitif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Konfirmasi lost / closed reason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75BBDE-0225-480F-AA71-A41FF973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F42D7C-CD03-48B2-9425-C30E3914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3F7E49-8BCB-4090-8B56-ADE08022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Supabase Cron + Queues · Resend webhooks · activity timeline · Calendly events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A42675-BCB0-4CAF-935A-AB6BE0CC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209C71-0992-49D3-B0BD-368D1A1B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7EA461-AA42-4ABA-A526-8BABCAA0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Inbound reply state, unsubscribe route, suppression list, last_meaningful_activity_at, scheduler production, dan retry/backoff.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596095-7142-4944-B174-39DA3E59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31DB19-105A-413A-BEDE-881509B8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9E2403-E387-4642-B3AA-43974CA6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Reply rate · booking-after-follow-up · unsubscribe/spam rate · duplicate-send rate · recovered pipeline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24EA19-B9C9-49A8-BFA8-EAFA11CB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Stop conditions wajib: reply, meeting booked, revision, won, lost, closed, atau suppressed.</a:t>
            </a:r>
          </a:p>
        </p:txBody>
      </p:sp>
    </p:spTree>
    <p:extLst>
      <p:ext uri="{BB962C8B-B14F-4D97-AF65-F5344CB8AC3E}">
        <p14:creationId xmlns:p14="http://schemas.microsoft.com/office/powerpoint/2010/main" val="1196453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E0B08B-EF4C-42C6-8931-41932F8A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5 · CLIENT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CB93B-B917-4B67-B812-2DF02D12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C7F5B-EB3C-49C3-94D9-64BF7538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D9A9A-397C-483F-9643-1615E2A0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Client: handoff komersial langsung menjadi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EEEB7-6901-4CF2-94DE-2AA9A50F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begitu deal, data tidak diketik ulang dan project langsung memiliki owner, scope, milestone, participant, serta modul yang benar.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D6646-5C2D-4A05-849F-E68029B7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EF3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4EA2E-F0E4-4406-944E-1C61709B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KUAT, TERBLOKIR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38AD7-5D36-4B91-B4B5-C9BAF0A6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Engagement/program/modules dan Project Autopilot ada; sebagian schema Autopilot tidak direproduksi oleh migrations repo.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CD771-FAF5-4E8B-9304-FE1E1549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FBA8D-D4D5-403E-A817-813AB389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AF584-9C13-4010-AAAE-80635A1E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Won opportunity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D4040-07B6-4F7A-B94A-E8D3399D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1513D-B2A7-4D01-BC22-C2CDFAE5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BECA2-F8A6-46D6-AE1D-CA602F29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FD165-A49D-4DF4-9F02-D4D4CE81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Organization + contact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A65CC-EC87-41D3-80BF-7C0194FA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71A66-7C23-4FA3-9425-496AD4A1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CBE694-7117-44F5-BA77-60EA16CF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4E664-97AA-4741-8E38-EB5D1C39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Engagement + program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00009-74EB-40C5-9B36-D55A1D90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2D17D9-1A9A-4042-9014-DA4A1109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563BD4-D1AF-445D-A1B7-580F866B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4721D-082B-4F11-BEF2-4CD279C1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Project + delivery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BB2BDA-B880-451A-8EF7-4EB82947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424749-7364-4476-8D2F-2A20E274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CC6CEE-9033-4F71-B0F2-9D8AE283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Draft plan, roles, milestones, dan dokumen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Cocokkan facilitator/coach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Buat kickoff brief dan risk flags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Ringkas evidence dan progress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6CC888-B5FA-4D7F-A1A5-1E5F7FB4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901950-8B46-45D4-B3B3-E974059C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4979E9-0C9A-4415-8103-56AE972C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CEO menyetujui SOW/custom scope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PM menerima AI plan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Admin mengonfirmasi resource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Facilitator mengubah draft menjadi delivery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39347D-B099-4C03-8DA1-66E5CFFF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AC1170-F68F-44CB-90B6-9C9D276F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06AA4A-90B6-45A6-9546-D7194ACF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app-binahub admin/client · binahub-api · Supabase · Project Autopilot · TBOS/LEP/BinaInsight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B5A7CD-319F-4C35-BADB-B577C0C9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EF3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2BB6FB-C3B3-4B17-9C53-BFA622B5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CCDE09-7104-49E0-A89A-45A50D11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Schema drift: project_roles, generated_documents, communications, automation_events dan beberapa kolom tidak ada di migrations.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A4FE5F-EAB8-4923-90A7-13D60F34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03552F-E990-4A3B-8159-058B57F6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3043FB-A0E0-4445-A4C6-4F367E16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Won-to-kickoff time · project setup error · milestone on-time rate · participant activation · margin variance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AAB2D6-980B-40B8-9F32-09BEFBFC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Prioritas P0: jadikan seluruh schema Automation Center reproducible sebelum menaikkan volume sales.</a:t>
            </a:r>
          </a:p>
        </p:txBody>
      </p:sp>
    </p:spTree>
    <p:extLst>
      <p:ext uri="{BB962C8B-B14F-4D97-AF65-F5344CB8AC3E}">
        <p14:creationId xmlns:p14="http://schemas.microsoft.com/office/powerpoint/2010/main" val="12586728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41608D-90ED-4073-87BD-1C243B5E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6 · RETAIN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C95AE-12E4-4371-9A40-6A332E2B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FA3BD-D1EA-4A57-B7ED-10C4DB26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CB771-0E74-485F-ADDC-B00BD217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Retain: health, relationship, dan next opportunity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B152A-DF42-4388-B8D8-CA90CC3A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menjaga value setelah delivery, mendeteksi perubahan HRD/PIC, dan membuka repeat order tanpa kehilangan konteks hubungan.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C77DD-4A03-4324-BA7E-46C71EE2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9EC17-4886-4025-8AAF-F6950D80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BELUM 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9CD4E-9430-4751-867D-8CB49462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Evidence, outcome, dan engagement tersedia sebagai fondasi; account-health dan playbook retain belum menjadi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69F78-C20B-49C8-938E-A4343E34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91221-79FB-4EA6-B5CE-04DA186A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2F9DD-26D5-4B61-9FE5-D5236469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Delivery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E597F-C6C9-487E-8022-B6F0E902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D90CE-0217-49D5-956D-3FBE4753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42819-EB80-4FBF-9C59-BB4ED0EC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86CC4-8113-4EC2-890B-B8E6CD22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Health + sponsor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E94F0-5378-4346-931F-60C07101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5AE61-8DBC-475D-AE3B-8D16F8DF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46751-4968-407E-BDD8-88A33F80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29198-1375-4E0B-8FEF-D2131F90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Quarterly value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EE44A-422F-4098-960A-00529506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271E1-7385-4A7B-8CA7-E0749368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90ECD-4831-4A43-BFE1-06F95372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38C9F1-1752-4781-B8EE-38DE3665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Repeat opportunity →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5D0D93-C35C-4043-8538-593B9BF7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E51C4-E8B7-469F-8427-DA875117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8B9145-1426-434E-878A-0B74B39C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Health score dan churn/renewal signal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Ringkas outcome dan value delivered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Deteksi contact/PIC yang perlu diverifikasi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Sarankan next module dan timing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301419-A72E-4541-AFEA-4A147B20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CDAE46-8E57-4379-B2E2-DE41C5E3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5E571A-1E66-42A2-9177-98891345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Executive relationship dan QBR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Validasi perubahan HRD/PIC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Menyetujui case study/referral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Membuka opportunity baru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B22CD6-FDB5-43DC-9FF1-1F8FCB68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1841FF-94C9-41FF-8028-97707DAC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4EAA8C-F110-4BF3-9A46-D6DAE99D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Organization/contact history · activity timeline · BinaImpact/outcomes · NPS · workflow engine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A3346E-5E2A-4F3C-A103-209FE4BD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D21224-4449-43E7-B864-66C5CB87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BB2443-1FE6-4D67-8B15-1EF49C75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Contact-role history, health model, QBR template, renewal/referral playbook, repeat opportunity, dan data freshness job.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8DDB9D-59A6-4637-AC41-331DB26D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ABDF1D-6081-4E7D-8CB1-2B8EA148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FE2BA8-B5B0-4AC8-A96A-85013D3C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Account health · renewal/repeat revenue · sponsor coverage · NPS · referral rate · contact freshness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62FA2F-62CD-4147-B2DC-B1ABE057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Model data: contact tidak ditimpa; simpan peran, effective_from/effective_to, dan sumber verifikasi.</a:t>
            </a:r>
          </a:p>
        </p:txBody>
      </p:sp>
    </p:spTree>
    <p:extLst>
      <p:ext uri="{BB962C8B-B14F-4D97-AF65-F5344CB8AC3E}">
        <p14:creationId xmlns:p14="http://schemas.microsoft.com/office/powerpoint/2010/main" val="8473487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CE03943-9960-4239-9D56-B8071AB7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TARGET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78CFD-F85F-4F41-A4BE-A24EF2CB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6D85B-3C20-471A-B9EC-679C5373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AC01B-6946-42C5-9109-634BB5C2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Stack target: core sederhana, tool tambahan harus punya alasan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069C8-4ABC-4C61-950D-1D7F49B0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Supabase menjadi system of record sekaligus orchestration awal; Trigger.dev baru dipertimbangkan bila workflow benar-benar kompleks.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27F56-A1C0-411F-90C6-CF19D534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383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CHANNELS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B9DFD-54F0-4838-A5A6-9FBA3605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1DBB4-70F0-40FC-B42B-62E7CF7B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76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A0935-ADD1-42B6-93C6-76DD01BD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765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3C35A-D62A-49C8-B2C0-2B994532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CONTROL PLANE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0D9B7-CD78-4F78-A9E0-72C81971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080FE-99BB-4967-95AD-9EE8BAD0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SPECIALISTS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93970-9A28-442E-B3FE-732013B4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DD084-FD56-4025-AA33-56909AAE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DATA + 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72483-C545-4400-A7CC-420FEE61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430BE-CB90-4B22-9085-33BB3D70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192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D8D15-D8A4-40E3-85E5-07439C09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14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Google / Meta 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377A4-5568-4A70-9046-5943F5B7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431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paid acquisition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86975-95E1-4CDE-A00A-C617DC02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192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05CD10-C5B3-453D-ACC6-D7575F66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14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Apollo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73A6FA-734C-47A5-B5E6-E32321F9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431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authorized prospecting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24CDE-902F-4D81-B007-9BF19975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192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2DFBB-01FF-4AA1-9AEE-AB4DD25A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14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Referral / Owned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DCDC33-CB16-44F1-AA2C-AFB18AC6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431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organic &amp; partners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5BF579-003D-4F70-9DDE-5365F2F4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4C50F7-14EE-4C33-B99A-B8F01CE5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14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Email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D84468-A937-4E56-9159-523ADF8B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431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outbound / nurture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9B8941-EB26-41FC-833F-7987707B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192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225F16-2779-4D93-8BD6-D5216641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Calendly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1DA199-8B4E-4841-B36C-DA0262D8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431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consultation booking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D2B7A-14E1-4D3A-91E6-B2BB89EE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574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ABF9F5-A059-486C-9F93-28FDE189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527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website-prod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CDA84E-7B44-438A-8454-B6A9563D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company profile · /insight · contact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0A483F-784A-478C-A278-66C1A1FE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574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D2D6AE-6E2D-40B6-BF19-01270573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app-binahub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BE3385-7329-4ABD-A010-3474B04D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81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admin · client · program · delivery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680D11-8903-4809-AE32-9053804B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57450"/>
            <a:ext cx="3505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73135B-61A5-4D04-877E-3CF8096B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52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BinaInsight public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9AB8FB-727D-4D1F-8C0B-C2B0CC0A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81300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no authentication · PDF + email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D9E3CC-C8F8-42B4-BD53-87C3D7A7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956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6F8E83-2CFB-4AC1-99F5-9C12F709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909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binahub-api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7475CE-D56E-4FD6-A6F4-7357C343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195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validation · business APIs · webhooks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0C80FF-8E6D-4F8C-B20B-254765CC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956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825A98-635B-4E70-BF33-440F9D74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909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Lifecycle State Machine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7F9886-DE6E-4C24-90D8-DFC46C3D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195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stage · temperature · opportunity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928482-5785-413C-B0F4-658BDDD2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95650"/>
            <a:ext cx="3505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EB1D55-0BC3-482B-8050-2AD8BD5E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09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Supabase Cron + Queues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281EC3-0288-4EC2-A143-A1797AB7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19500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schedule · queue · retry baseline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76A32B-D9CB-4EA8-9CB0-E3FCECC1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338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196F59-A96D-4A5B-8320-CF8FBAFD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Lead Scorer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3604B8-6036-4C74-A6FA-05D31C61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fit + intent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79F1F8-5B64-434A-9196-F7D589EC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338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E9C89C-9EEC-4CFF-A530-4C3794B5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Proposal Agent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623EED-D0F7-4CBF-B790-C8BF2BDA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577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draft + module fit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6C2818-4540-4B86-8FA0-886FF05C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338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39BF0F-AE7C-4D02-93D4-225A048E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Follow-up Agent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5C8A410-FE65-4909-868E-D96C78EB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577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contextual sequence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9CE901-6DE7-4D97-BBB3-F5CDE90A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338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1ABF32-2C5E-4670-9FAA-099F0C44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Meeting Agent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9D3FFED-4566-4607-B974-AD8ADDF5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577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brief + recap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215694-5AEA-48B9-B32C-39F56447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338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0F69E7D-78F9-4B19-9075-C1794A38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Retain Agent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B8692E3-3D59-4F72-9E59-165C7FAC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577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health + opportunity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C9402E-0199-4D32-B1BC-546C66B2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72050"/>
            <a:ext cx="2286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3DE365C-B591-44F6-B01F-A30984C4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673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17A3BCC-EAED-4797-B501-F16AC825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9590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Postgres · Storage · outbox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6B19A63-8162-4C42-A909-2E9C47BE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972050"/>
            <a:ext cx="2286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FCF2D34-66C7-4871-868C-202BF6AD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673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OpenRouter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6DFC2CE-489E-4AA8-9652-90F4ACD9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9590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models · spend controls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F5D9D71-6154-406E-AF82-6901AF41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72050"/>
            <a:ext cx="2286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9A7C5F9-6ABF-4A58-85EF-3614B962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673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Resend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B4A68A0-7DF1-427E-ABCD-F4ED50B4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9590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email · delivery events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DC92EA1-1A55-4A17-AFFD-C2399DF6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72050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1DBF0E8-D7C3-404E-9489-2EE1F5AE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673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PostHog / Sentry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789A3A5-C017-474D-AB0A-3079FB40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2959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funnel / error monitoring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FA06A5-1364-4E90-ACD3-918E20BA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10250"/>
            <a:ext cx="956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Human gates hidup sebagai task approval di dashboard—bukan melalui chat pribadi yang tidak tercatat.</a:t>
            </a:r>
          </a:p>
        </p:txBody>
      </p:sp>
    </p:spTree>
    <p:extLst>
      <p:ext uri="{BB962C8B-B14F-4D97-AF65-F5344CB8AC3E}">
        <p14:creationId xmlns:p14="http://schemas.microsoft.com/office/powerpoint/2010/main" val="11878137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ACD9919-A0A7-4037-B037-B118E3A1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REPOSITORY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ECEA1-AE12-4B83-AF91-AF79473A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67DE3-1E7D-42DD-A313-F76182FB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C3EAF-8C36-4B42-9DD6-3EC1CDE1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Apa yang sudah siap—dan di repository mana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195DA-330C-4DCF-8C63-AEDE33CA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Status code-based per 24 Agustus 2026; deployment, production migrations, env, dan billing vendor perlu diverifikasi terpisah.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12E73-14BE-4770-ABEC-6AC6C4ED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D6D74-B1E3-4A48-82C1-1CD773EF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EF04B-C4D0-4BFF-AC96-46850E54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57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6C74F-2E75-42AA-9342-6A622DB5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85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website-prod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3B4A0-9853-4713-8A16-E0FFB409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57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1290A-BD1C-4A67-A040-BEBFE981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85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app-binahub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DE0DB-B129-4812-9588-6CB5B420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93EA0-9C77-428F-935B-3CBDCEC2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85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binahub-api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27ECA-9A3A-4B2B-BC91-3CD9A0AF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57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6AAFC-0A4A-4B17-9F65-A6CEA5FD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85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9B1DF-7FE2-445E-9A40-5AB96F63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13D6A-EDA2-4E19-B753-0FCC9D7D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66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Company site + /insight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6CF0C-DB03-4EAC-A603-8101CCBE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38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3FE21-BC0E-4C16-9F22-25A1A740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66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86010D-521D-4019-8223-EC0D6956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38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847D2E-8AC3-49C9-97A0-C06977B3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66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Mirror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507674-20EF-4239-98AA-4822C2FC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9123FD-52AB-4637-B5A1-0D745E09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66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API target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8A0F1D-A073-4CBA-BCF2-5B5139BF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38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81C562-A5E4-46E2-9FC7-A49845C5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66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415138-1C43-4850-A3B5-3FD27EDC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6EA79A-0E6A-4FA1-837D-3696330C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47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Public BinaInsight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FAD8E8-547A-496B-A70D-71D263A2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19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D46B02-B93E-4D27-B260-F06DD043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863BB5-34BA-4E47-96A1-1927BF1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19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0CF563-1D3E-4A78-AB52-02E5AEC5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47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905912-ED0E-4309-92EA-E30EC647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19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6BDB2B-299E-41D4-A0DB-4A0754F1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47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Scoring + save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794E31-E8B7-4307-8919-57FC5BCA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19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BD1D6D-6978-4FCD-A2B9-525A459D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47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AE3CBF-66C5-4E7A-9EA4-09AD4629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1E884C-77FA-419C-944E-E86AE679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28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Result PDF + email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FF45EF-50CB-455D-8860-23DAFFB1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28C085-C1B5-487E-BD49-131A28CB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28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527EDC-2223-4306-BDBE-36E8A4D3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41A34C-B90E-4195-A12F-E7C8806A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28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Result view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6E77E0-BB89-4E0E-A458-3676EEE6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00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FDB1A4-BC17-467F-92AD-4EABF9A8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28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4-page PDF + Resend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219589-3A38-4925-A9C7-70BCD752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00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2AC048-C0E9-48F4-8DC7-3665F6E7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28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DF35EB-3D13-4816-8A8A-5C50A2E8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3BC62D-35D8-48C2-938F-70971550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9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Admin assessment/follow-up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E84231-B991-4B25-BB32-45755819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81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E68BAB-E051-4C94-9A6C-1BD9E02D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09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760E4B-4391-4162-B4EC-490E17DE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81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C81B13-401F-44E2-A23C-CB860D4C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09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8B900A-537B-43A0-8D56-9E94B717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81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309547-AE87-439B-828A-777D3800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09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H+2/7/14 + claims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FCBAA0-27A5-4B6E-AB9E-35C91119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81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F546CA-315F-4670-8560-BB2A5747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09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E65CE4-D447-4FF0-84D1-BE0195EA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5274A7-D385-47B0-A5C8-F82BF143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90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BinaInsight as program module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F2A4DE-5420-49ED-93B8-2942C9F2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62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8A871E-C12F-448A-BF4E-A0874975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90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EEFAA22-91BF-48A3-B688-2C836CAA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62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42CE919-5E95-42EF-B396-1CF5F59E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90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Module UI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05969C-66EE-4836-A892-680708DB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62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3E025FC-5F39-40CE-A51F-1E19309A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90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Migration + linkage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624ECD-C317-4BF0-961B-1B46E6F4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562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1F24FCD-84F3-45A7-B755-C2E98C7D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590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C504AFE-141B-43CE-8B38-9D0C5700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9B931E-7937-4860-84F4-DF553680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71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EAA5479-AD03-40C2-B1ED-4CBA0411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D71D072-1708-4519-A602-59E9DC42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71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CTA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1A0078D-3E29-4048-8AA9-CA7ADA2D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43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90B426-A933-43E6-BF17-EF184639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71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Admin flow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5E356E-11A9-4611-85EB-CDC03D05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43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2FC2D8E-1477-4628-AB09-C57A2426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71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Request + generated PDF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63C7057-93E3-4E75-A199-8D38C21C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943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17D1C58-F3A9-4B2D-86A4-F63CFA9C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71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831F61C-6A5A-410C-9AF2-A5DB8EDD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B59B2DE-5543-45B9-94EA-73FCA052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52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Project/engagement delivery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6EA91CF-690D-4953-A816-109A4F40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24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5858629-2B39-4CEC-9F85-C143D838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52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4418E5B-212F-487C-86E5-FFA544BF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24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6C32FCE-BC42-4E56-A58D-2147229D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52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Admin + client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05F32C5-C23E-470B-88D0-65460ABC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24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115AA3D-4079-400B-B123-1BAAA80D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52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Autopilot + services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92CF777-6048-449A-A48D-5A346944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324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4EFEA07-1421-4BD2-8E2E-1A6D557D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352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1383656-6866-4573-876B-5497572E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5320DA7-F8B1-43CA-A69D-D5A09529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33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Attribution + analytics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E9D173B-260E-43A3-BDF0-C7DFA107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05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34B6DC6-B94A-45C9-9D9A-8EDCD165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33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30DD531-98C1-4211-B330-7EF2C3E8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05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A5E9810-8299-4489-A916-D1D5D495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33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Adapter only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F58AF6A-4A40-4A41-B802-B6B621ED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05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B8E3A01-8A64-4503-B668-6B0C6C7E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33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No GTM events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76810C1-9BF9-477B-A33C-23B2317A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05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5458109-1D69-4A03-A768-4F303378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33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3361652-F8C8-4AC5-9F95-5BED7280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512AB3E-9283-4184-9722-778D499C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Calendly automation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EBEBE4E-4536-4653-A706-D39A6E9F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86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A7DF852-BB2D-4537-9500-4CF7ACD2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14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DC0E1F4-613E-4383-8830-73BCC177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86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518B208-F3C2-4D6A-9CCE-5A3EF320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114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C4EC92A-EF8B-44B4-B720-2C5E211D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86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D895AC1-BFC7-4F93-B3F2-2C51AA6D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14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Hard-coded link only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3C09C98-C046-42B3-A3EF-917760CD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086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EE5D455-044C-4069-834E-D950F05F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114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99B86C1-C477-45F4-9BA0-061BF14E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6F88834-1381-4BD5-B336-D4F51AEE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95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Retain/account health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385F8A4-97E8-4E8F-AB39-46A6C206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67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41BD5DD-C427-42B3-BF8B-549AC510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95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D6979EB-B3C4-4EFE-A62C-303E8F2A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67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5002297-F37F-4C92-ACBE-6998F748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95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Evidence foundation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DC83E8D-8594-4ED9-AC14-2DB5D711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67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A4B7681-B98F-45CA-B459-9E037E01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95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No playbook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BA5770C-6587-4E38-99B7-D0065BE6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467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62A19B7-FB8F-416E-A005-D11466F7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95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C5EE897-9EB1-4788-BD87-419510BA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34FD317-9199-40F3-A394-DF0BB499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Legenda: READY = usable foundation · PARTIAL = works but not end-to-end · BLOCKED = schema prevents reproducible deployment · NEW = belum dibangun</a:t>
            </a:r>
          </a:p>
        </p:txBody>
      </p:sp>
    </p:spTree>
    <p:extLst>
      <p:ext uri="{BB962C8B-B14F-4D97-AF65-F5344CB8AC3E}">
        <p14:creationId xmlns:p14="http://schemas.microsoft.com/office/powerpoint/2010/main" val="8907882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A19C1AD-EF10-488D-93D0-9F3131FD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 HARDENING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C4F2F-B78F-4E87-9B49-209914E1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2A7CF-8E11-4825-BE75-DEB7ACD5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254A1-99BF-48C2-9FAA-2F0882DE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Tujuh risiko yang harus ditutup sebelum menaikkan volume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17DD4-E4E1-4F3A-A23A-4B44CEA5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Ini bukan backlog kosmetik; masing-masing dapat memutus data, mengirim pesan salah, atau membuat funnel tidak dapat dipercaya.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DD6FE-0F3E-438E-B75C-821842B5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E773E-FFD0-4E74-BE8B-060355D0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E57AC-6DF3-4291-92E2-54769F70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E1E5F-3C6F-4ADB-982E-9669F0E8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621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Temuan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3A0C9-DCA9-4704-A924-7726D7F0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3355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F5462-2BD8-4393-A176-761AEC54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621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Dampak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166EE-E8B9-42F9-8D66-58C43E62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3355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544FE-95E8-42F5-A4EB-5DC52E8F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6212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Perbaikan minimum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DE74F-2D64-4729-B6B0-9DB2B061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A765E-AFE4-48F7-A277-CAC35D68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2383C-A94A-4870-BFA0-1BFD2151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098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38DC4-3C1E-40F5-8A48-BD2F5C84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383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Schema Automation Center drift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70F03-DF6E-434F-BC0E-B19D04E6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94E0B-0F45-4240-BBF9-D389BB7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383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Autopilot gagal di clean deploy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574743-5F0D-49D6-A7AC-E682BE31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265096-9D55-4F24-9298-568CC750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3837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Reconcile + migration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EAC8F-6F7B-42FD-AB05-811911EA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72A36E-F832-4FDA-B580-CDB2F55F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1462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4415F-6736-45AB-A76A-375C9083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B109D2-0989-4038-B5D7-E48F6BDD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146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Contact insert error tetap success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3D9F44-48C7-4C8D-A915-2361500A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4EDE7F-266F-4F7A-B4E9-0B252C10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146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Lead hilang tanpa terlihat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C57595-A5B0-4D34-AC0A-5558E3C4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BEA475-1711-4935-9DA8-E0068FA9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1462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Fail closed + outbox + alert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A4D9C9-A2AD-429D-AA21-667AB6D0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888C2A-469A-4401-A8CF-12D1974F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3F9DE9-C442-4E5A-A929-34C42A0B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623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221066-0FCD-46C8-BCCF-6797518B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908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Chat menyimpan sessionId tanpa token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7DC43E-22EF-42AC-9356-B0DAD10C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6230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5B1F00-33AF-4FA2-9942-F5AF60BD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908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Chat gagal setelah pesan pertama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A51BA0-C528-475F-9EAC-4ECC00D5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50C2DB-8DAA-42AA-91DD-A701AD82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9087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Persist dan kirim sessionToken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EB6167-35F5-437B-B1C5-3B7B8429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09E81B-E6A8-4BD6-84AC-019940A9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712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DB9717-E0A9-4DD8-902F-59C1D8A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385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A9D364-9FB6-413C-86F5-B9E16DE8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671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AI temperature bercampur status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841385-4C63-40F8-929B-08800911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3855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A3B1D7-B0E7-44EC-96F5-96836E35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671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Routing &amp; laporan tidak konsisten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4A8500-DFD0-4280-BCF4-7AA4AFE5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6E82DB-5438-4D63-8D0C-D82034AC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6712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3 field lifecycle terpisah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9F0A2A-765E-4264-B0BC-90AC8517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FF2C5E-CEAD-440E-8FBC-3D5498F1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4337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BB0763-6C4E-4315-A17A-0EDE716C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148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DFE473-25D3-4595-925B-7172AC71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433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Event queue claim tidak atomic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7BDF88-F9FB-42C6-8D3C-147DEFAE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1480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C6F14C-1BC6-457C-BA91-8191C697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433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Double work / failed event mandek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45FE21-832C-4680-A6B1-A301ED12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1480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8F260D-6F3C-4410-88B6-388EE6C1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4337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Atomic lease + retry/backoff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8AF878-CE80-45AC-8798-78679E29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E1B798-2BEB-4261-A91F-2F82452C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962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7433173-AFF9-4F54-991E-CC026A8E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910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45954B-8968-42DD-A3B5-007B4386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96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No unsubscribe/suppression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8456E5A-00A0-4C07-AC8B-C1864A54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9105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68FFC36-3D88-4A6B-876B-A1438172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196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Compliance + reputasi email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393A9BE-0185-4A2B-BE42-0B7968CA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9105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E40751A-7282-4D0E-A11A-248BD2BD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962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Unsubscribe route + webhook sync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D168E4-F7CE-41E8-9F08-60D26A37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67171E-15D4-40F2-9642-67250472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AD6F03D-AC20-4044-AEAF-5AB4CBFB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673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0FB7354-7A78-463D-8996-F41F2563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No attribution + cron proof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E6971BF-F48C-40A5-BAAC-45534658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6730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B467AE-472C-4215-A62A-A72E6E97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958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CAC dan automation tak terukur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38E5F0E-7BE9-49A4-873E-3E2C531C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6730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8F656F2-6CD7-4DC6-8886-35530F59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9587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GTM events + health checks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CE47E98-682F-4D2C-ADB3-F7306F9F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11391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CCA4229-3F41-4F84-9A7D-D9BE1BAA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11391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EF3F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ED532B0-0DE7-4310-B65D-B6151687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Exit gate P0: fresh database deploy + smoke test lead→assessment→email→follow-up→proposal→client tanpa error atau data manual.</a:t>
            </a:r>
          </a:p>
        </p:txBody>
      </p:sp>
    </p:spTree>
    <p:extLst>
      <p:ext uri="{BB962C8B-B14F-4D97-AF65-F5344CB8AC3E}">
        <p14:creationId xmlns:p14="http://schemas.microsoft.com/office/powerpoint/2010/main" val="11190418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334FB3-E524-45D2-BFFF-4ECA787A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MONTHLY INVESTMENT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65B9F-FBF7-4200-B065-16ACEC90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D3CED-58B1-4369-AE44-19519BA4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BA13-E82C-43B1-8D74-920C881A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Mulai $55; jangan membayar shelfware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8F090-9E2C-4C62-9A9E-420D6920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Harga resmi dan screenshot 25 Agustus 2026. Konversi memakai JISDOR Rp17.703/USD; belum termasuk pajak, overage, AI, dan iklan.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82DBF-7E0E-4129-BB3D-885D4F47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62350" cy="373380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DCD27-D9EB-457D-BF98-A1852333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LEAN 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A2763-54CE-4493-BCE4-50DA515D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$55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A5AEB-4F19-4B6C-8508-D0198810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±Rp0,97 jt/bulan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0A3EF-A998-4B5B-A00B-C610CED3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61368-E9CC-496C-9057-B75B1147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Vercel Pro $20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Supabase Pro $25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Calendly Standard $10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Resend · PostHog · Sentry Free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C9859-1B3B-418D-B1CA-8F5E82BC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38750"/>
            <a:ext cx="1771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90581-C012-4A82-A5D7-0FFC17E9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4827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REKOMENDASI MULAI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C673A-CE84-4948-A00C-B6427B44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90700"/>
            <a:ext cx="3562350" cy="373380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F8BFE-6C79-44AE-A87B-FA2960DD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57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+ EMAIL PRO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BD059-47E8-42FE-9F18-73DDD949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9555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$75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78084-0C5E-48F6-BFDC-00AA125A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623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±Rp1,33 jt/bulan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62957-4F3C-448D-AC5C-A716B01B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63855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3062DF-B7B8-4271-8B31-928C3C59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8620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Semua Lean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+ Resend Pro $20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50.000 email/bulan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Tanpa batas harian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37F506-11FE-41D3-9BD9-8C60A05C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3562350" cy="373380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0B080-6E70-4C7D-A66B-FDABAD56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+ APOLLO MONTHLY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AD6D86-F943-4323-B86B-CC099965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9555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$140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D3130-1D2A-4727-9799-D97F8ABD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±Rp2,48 jt/bulan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30E96-0ADA-4014-8322-294B0314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3855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05585-39D2-4411-8F4B-9F4727CF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8620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Semua Email Pro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+ Apollo Basic $65/seat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Trigger.dev belum dibeli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AI tetap usage-based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663DFD-96C5-49DA-9C98-34F6D227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AI/OpenRouter adalah pay-as-you-go. Ads adalah media spend. Keduanya harus diberi cap terpisah dan tidak disamarkan sebagai biaya SaaS tetap.</a:t>
            </a:r>
          </a:p>
        </p:txBody>
      </p:sp>
    </p:spTree>
    <p:extLst>
      <p:ext uri="{BB962C8B-B14F-4D97-AF65-F5344CB8AC3E}">
        <p14:creationId xmlns:p14="http://schemas.microsoft.com/office/powerpoint/2010/main" val="20215593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29440BB-D8AF-4325-9D51-23152DB1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SUBSCRIPTION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753C1-D5EC-447F-9D66-F1F36F05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4FF7B-6177-4FDC-B737-671EF182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00C85-C221-4986-9458-C3357429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Apa yang perlu dibayar setiap bulan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89A7E-24CC-4F67-A10A-F35E3187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Pisahkan: wajib untuk production, baru setelah P0, opsional untuk acquisition, dan usage-based.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719AF-7084-4BB8-8159-10DEA484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138E9-1F71-47EB-9EC0-C9974208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287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EF520-3B6A-4210-A7C1-A3FDE274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6002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B2322-E14C-4A71-BAAF-E3170475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287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/ harga resmi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7B56C-B3CB-4885-8507-4D9D7553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002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25069-70AC-4861-A8AA-A6AD0941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287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2EEE7-2246-4CF0-9EB7-E2DE6FC8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002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B4522-B81A-463D-9CCC-E184916B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287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639EE-3731-4434-966D-C71A6129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02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90E92-0EC1-4D5B-AAEF-6869AECD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287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Keputusan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C5AFE-DB38-4E3B-9940-7FEA66A3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4CCCB-418B-448C-B9BD-3C767BB3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669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Vercel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CD6D1-9C5D-4DFC-A238-147059B0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383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12175-6D12-4B28-BEA5-78BD196B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669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Pro $20/dev seat/mo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9FB534-2BC6-4EF2-902B-3C06913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383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66AA0-EE5D-4070-84AA-D819A801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669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Host 3 Next apps + CDN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83FE3-9633-4A40-A77B-AC2C40B9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383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B38FAC-9503-4F41-B7E1-1A705A1D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669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Existing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EFD5A-3174-4910-B859-51EE5B76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514D4F-F58E-4E82-8D68-19DB3868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669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Wajib production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12FFF7-A13A-4C29-A76E-F4309B6C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B956E8-3B15-4809-9039-6D20D271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05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99958A-C04A-4265-A2D2-77E27216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765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8EAE04-1ECD-4619-86BF-49785E0D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050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Pro mulai $25/mo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79140E-70F9-4538-8C39-546EF99B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765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839391-AE68-47CB-AAFF-FA711DC3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050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Postgres, Storage, backup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21C864-C9E7-49AE-A2B8-FA88C714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765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299C62-91D5-47AE-BDA1-11D6CADC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050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Existing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1350C0-0212-4F67-964E-144752CD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765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C917AC-BEED-4EDB-9501-90E04990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050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Wajib production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FC9C9A-A3F2-4DF4-AD13-08D0EC47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DC06A2-2977-4B7C-B1BF-DBEB076A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432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Resend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63CF23-830D-4653-A36B-0553E6D1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146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848661-9666-48F4-8CCC-4CB72C8F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432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Free $0/3k · Pro $20/50k · Scale $90/100k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B436DA-A67F-49FA-A8FD-DAD90233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146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53D61F-4E64-44D0-8E41-89E227EA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432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Result, proposal, follow-up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F0FD5E-37A9-496D-8A2F-64E1B8C8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146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11AE1D-9E73-4320-91F2-1B27009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432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Existing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F29E45-5F7F-48A7-8EDA-906A886C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146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3F6DCE-DAF7-4AE2-A668-4D17E2D0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432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Free→Pro saat &gt;3k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9716C1-5537-4E98-949E-B675CD45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82B13F-6198-4CFE-98CE-D2DDE6AE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Calendly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B61A4B-0FDE-4F10-BAC9-821F7733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528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5B5126-A7CE-4EE4-B0EA-8E0E8C89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813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$10/seat/mo annual · $12 monthly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8C2E02-A353-4852-A932-DACB5044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528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02CC4C-B31F-42DD-A188-8AA270C8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813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CEO availability + webhooks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6C472E-BE29-4EB9-A73B-1E1F5CFC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52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EDC67C-9AD8-4AA4-A9BE-A1ADBA01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813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78FE76-E279-4A3D-8C2B-A6C65E0A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528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DA34DE-AD66-4646-9B9C-1F762B35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813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Beli sekarang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BC8FB5-6346-4234-9B07-C66CB389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CC83EB-C17A-417A-B838-8C58C770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95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Trigger.dev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D37FF8-7562-4E67-A558-A848D9BC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909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511D8A-7E5E-4F06-BC20-CEFA93D7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195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Free $0 · Hobby $10 · Pro $50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A0ED531-162B-4527-BFC9-A7A7EDE4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909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767915-E228-4A6E-89CF-896D9478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195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Durable workflow opsional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C36EFB-F2C3-48D0-9C48-F666BFD5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909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E4ECC20-722E-42AB-AFE7-A0016286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95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Optional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E4CF8EE-A170-4A14-9830-426D9A75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909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DA66FC1-D506-42C9-872C-BB7DE42E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195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Belum perlu dibeli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A94E1A1-3C0F-4C7C-993B-4DECE149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C743EC6-6BF0-404C-8F20-2FF0EDE2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576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Apollo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6C1C618-CA65-491E-8611-FD68F6C0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291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65E1054-7B75-4BEC-8BD7-7237FA69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576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Monthly: Basic $65 · Pro $99 · Org $149/seat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8BE353A-E08E-4ABC-8FA4-9408FFAC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291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E649AB7-E442-434F-81D3-E680A579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576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Prospecting + enrichment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DDBED6A-E88A-43E8-AA56-85A56008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291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7C7C423-AA3E-48FD-BE78-27153C85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576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Optional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94A0081-D75A-4AE8-A199-D3489B20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291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EFAD660-49EB-42A7-BCA6-B23132DF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576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Pilot 1 seat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70DA43B-D5C3-4644-B572-C8D1CFA1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FC5C447-B421-4373-A5BF-D9F5AE4E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958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OpenRouter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B21A852-0938-4ED5-A86F-A6A5E16C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672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EFC68B5-D6F4-4311-9C73-B773A083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95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PAYG · 5.5% top-up fee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A735CAF-EF7D-4C9D-954C-39A6D72B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672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8625B15-996D-432A-8A39-2E1ACF79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958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AI inference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50DF596-FB8B-40FF-9450-C87A7014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672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8697BEE-A431-456B-BD4F-5908C961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958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Existing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F1F7527-4596-4A21-97BE-EB19012B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B0956C5-D675-4691-B4F7-E754CD5C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95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Cap + budget alert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47BA840-FD7B-4539-B0C5-FB601334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A836829-EFEF-4EC4-87FD-D214D2EB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339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PostHog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1CE9F2E-A8BB-4D87-9758-DE7DEFF9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054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8860EBE-CD01-45ED-8D4A-B48429EF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339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$0 ≤1M analytics events/mo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378B360-A68A-4DA3-B724-5D96032E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054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19A31C9-EDDB-4855-83F6-CE8405F1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339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Attribution + funnel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0DCE166-7504-4B92-B51C-78822E62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054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EEA6050-1673-4533-BE7D-2199BBE4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339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8BF7DD5-08F9-4EDB-AF6D-DFDCD2ED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41EACD3-7B9E-4F86-873B-74EE41DC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339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Aktifkan free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D7A8489-FFA9-44A9-8DED-32E78B60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80A9D81-E640-4FEE-BAE7-919AF6EC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721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Sentry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8E930F5-8988-4EA4-B7AA-5E27D3CC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435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C92084A-7FA9-4B9B-A373-E5BDF7E3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5721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Developer $0 · Team $26/mo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EDEC480-08B6-455E-9F95-88E93259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435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DE5B007-F1A0-4D87-945C-A68068E5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721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Errors, traces, cron health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1AA2ACB-7BF0-4601-806A-58E6220C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435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02D60CA-8B04-4CD8-9C5E-85E88E4D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72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33A857D-8853-4555-B352-9B70C990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5435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A4C11C8-299C-4E5F-8F07-00E1289F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572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Free→Team saat scale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C982643-FAEE-429C-BAF5-121C5A12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DC1C1E0-A0FC-4315-BE7C-E305DB97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Supabase: Free $0 · Pro $25 · Team $599. Tidak termasuk ads, pajak, AI, extra credits, verification, mailbox, dan overage.</a:t>
            </a:r>
          </a:p>
        </p:txBody>
      </p:sp>
    </p:spTree>
    <p:extLst>
      <p:ext uri="{BB962C8B-B14F-4D97-AF65-F5344CB8AC3E}">
        <p14:creationId xmlns:p14="http://schemas.microsoft.com/office/powerpoint/2010/main" val="18382806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DAAB122-E8AB-479C-8682-712B44AC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VARIABLE SPEND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F093B-A0D3-485E-92F3-94A9809F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CE81E-17F7-4225-A5CA-57771E24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D2319-241C-4AF3-B770-FBFA38FF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SaaS kecil; media dan data yang menentukan total burn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8A260-46D9-4770-B03A-845DE5D2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Envelope berikut adalah asumsi perencanaan, bukan quote vendor. Validasi ulang setelah 30 hari memakai CAC per completed assessment dan per booked meeting.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17B19-A4D6-4652-A95D-61DEDE3A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562350" cy="39052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E1A41-31A2-4DE7-BB99-4F8C61A4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PILOT 90 HARI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6083D-8103-467D-96A5-69DD4945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Fixed SaaS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59D08-F0C0-4C43-9B1E-A546BC17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Rp1,0–2,5 jt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8DA48-8C9C-4CED-A733-6CC8960D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F5034-1EF8-491F-873A-FEBA902A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AI / data / 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BC043-2F9C-47DC-85C0-14B5C1FD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43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Rp0,5–1,5 jt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6A4F2-C223-424E-BC04-6A8D6E7A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50F98-9A88-4CA4-A3C1-3767B051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Media spend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A9533-B252-4D97-82AC-06E2E3B7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290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Rp5–10 jt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D64C8-1AC0-473F-A7B6-3C5A5414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8077D-A275-4607-84DF-802A6123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TOTAL ENVELOPE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F28D8-DEB4-4F70-9F63-6FC9DDC3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Rp6,5–14 jt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5DD87-3216-4B92-A5F5-9C4FC76D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Lean→Apollo bila ICP sudah jelas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34A45-5927-4287-8EE0-2C5BD80E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52600"/>
            <a:ext cx="3562350" cy="39052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AD540-1B65-472C-8422-51FFF557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002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3BF13C-604A-4ADE-A6E2-515033AF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765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Fixed SaaS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F6C61-28B3-4D85-882B-CE8E0F76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574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Rp2,5–3,5 jt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DD4882-3D92-4D3B-A713-2E4CE619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384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5F24D3-5C8B-43EE-A210-79EF075A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AI / data / verify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8DBE9F-B9C2-4942-8040-234A9971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43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Rp2–5 jt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09FDBE-1FD4-40CA-B1A4-10AEF8A6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242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F564F0-EC7E-435E-B1D0-C4F0FBA0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8481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Media spend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B584B2-D7B7-48C1-AC76-1F854C1D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8290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Rp15–30 jt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9DEEA2-8DC4-45D3-B990-487DDC7B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100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3397B6-5CF8-45B0-BAC7-0F769782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514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TOTAL ENVELOPE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0487B5-12E6-415F-B00E-B0A90910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7815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Rp19,5–38,5 jt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59A964-3352-4630-A0AC-A3593BF5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2768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Email Pro · analytics · enrichment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A4A186-E194-420E-B2AD-272F26AE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562350" cy="39052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5625A5-DBFB-49CD-879A-8A42FBE8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8179C5-C8ED-4DE3-BAC3-D9B4231E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Fixed SaaS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E0AA5D-43AD-4AAE-A6C1-88B37968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574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Mulai Rp3,5 jt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F6B2B1-F089-497A-9615-3FCD9F7B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A6A647-FBA1-4717-B659-C76A53D8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AI / data / verify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9DB679-7B54-4B7B-B92E-51AE0953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43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Rp5–15 jt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8EE8F9-24F5-4D37-B129-5760F3DF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A3473A-C0F6-4B70-AB51-5F7E8D58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Media spend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C8818E-8E12-4510-A828-1EBF01E0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8290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Rp40–100 jt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BDCC11-171F-4E50-9072-DE5D8117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100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7845DC-5627-4029-82A9-8689D870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14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TOTAL ENVELOPE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08D9B1-7958-4490-8A18-723A34CC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815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Rp48,5 jt+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490EB3-D204-4440-997A-EC6DF0A5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768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Sentry Team/Trigger hanya jika terbukti perlu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25A8E6-CB34-4B94-82EB-6D9F6439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391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74BDCE-618C-4A7B-8E14-2B20F7FC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108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Budget gate: naikkan media hanya bila data source→assessment→meeting→won lengkap dan spam/unsubscribe tetap sehat.</a:t>
            </a:r>
          </a:p>
        </p:txBody>
      </p:sp>
    </p:spTree>
    <p:extLst>
      <p:ext uri="{BB962C8B-B14F-4D97-AF65-F5344CB8AC3E}">
        <p14:creationId xmlns:p14="http://schemas.microsoft.com/office/powerpoint/2010/main" val="8299364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033D19-C334-453F-B7D4-B7FBF518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IMPLEMENTATION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28D92-E0AB-4666-BC20-C32EAF46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D956D-F3AB-46D4-A61C-A72B1004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4DC69-37E0-4505-8499-2E7728B2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Roadmap 120 hari: harden dulu, lalu hidupkan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88072-155B-4496-8D24-24EAC5D3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Masing-masing fase memiliki exit gate yang dapat diuji; tidak ada automation yang dinyatakan siap hanya karena UI sudah 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823AE-EEDA-4215-9943-B0E7B13C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628900" cy="37147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703E4-5428-46E5-8178-0778C41A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DAY 0–30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E3D5E-ED97-45DC-9601-4F1DE40C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P0 HARDEN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5C954-4777-4DBC-9015-3A0082BA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2247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Schema reconcile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Contact/chat fix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Status model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Atomic worker + retry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Unsubscribe + suppression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1A04D-9812-4D74-8389-6EC6C06E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EXIT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13F7F-BA8A-4288-A886-BA92138B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Fresh deploy &amp; smoke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2A5FE-E3C7-4546-AB6C-C5A442F1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09950"/>
            <a:ext cx="2095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FED37-754F-4495-B145-2ABE3D95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628900" cy="37147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ED143-04DD-4F89-8E50-AF1CBF66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93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DAY 31–60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7594B-727A-48FA-B363-B31234C3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VERTICAL SLICE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C5C21-3FFB-4561-B0A9-3252451E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247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UTM + activity timeline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Lead routing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Standard proposal rules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Human approval task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Dashboard SLA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FD912-1F75-47AB-87D2-BB53F92C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6250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EXIT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BB26D-0C2B-463D-976B-9E7D7725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292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Prospect→proposal traceable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E869F-03AB-4DED-9345-F4D187C3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409950"/>
            <a:ext cx="2095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7DEE9-6A79-4D6C-B098-BE6DF807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628900" cy="37147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376F66-D72D-4EE8-889E-E25207DC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DAY 61–90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84666-AAE8-41EF-96AA-3FEDD1C2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ACQUIRE + MEET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CE420-D1B7-40B9-88E6-7431543E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2247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Apollo pilot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Calendly webhook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Meeting brief/recap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Resend events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PostHog funnel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2BFA2-5892-442D-AB33-1F86E9F6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EXIT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3B33A8-03CD-4F59-B391-6667E296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292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CAC + booking measured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87FAB3-B8E3-482F-BA5F-BFEDBBAA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09950"/>
            <a:ext cx="2095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B7C4F9-A698-4793-BAF6-34DEEF7E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647950" cy="37147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7E4EF2-86EF-4057-8C1F-4CC63624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193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DAY 91–120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BB6A78-CC09-4BC1-BDF6-7DACEA67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CLIENT + RETAIN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40372D-0A8A-41FE-9E73-59D2E64E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67050"/>
            <a:ext cx="22669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Won handoff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Autopilot stable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Health score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PIC history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QBR + repeat opportunity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D7131D-0885-48DC-8019-F5B3F5A9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EXIT 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F6E7A3-46CB-4D4A-A10D-ABB8ADBF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292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First retain playbook live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9D5DA4-DBC2-486E-B6A0-3B0B9005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Owner minimum: Product/Tech lead · Sales ops · CEO/commercial approver · Data/privacy owner · Delivery ops</a:t>
            </a:r>
          </a:p>
        </p:txBody>
      </p:sp>
    </p:spTree>
    <p:extLst>
      <p:ext uri="{BB962C8B-B14F-4D97-AF65-F5344CB8AC3E}">
        <p14:creationId xmlns:p14="http://schemas.microsoft.com/office/powerpoint/2010/main" val="14477635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E5ED29-767F-459D-B9B7-1C685F89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CEO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AB5C8-B780-4933-B23C-3BA3945F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437CA-4D78-4082-B6FA-A127C230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75523-B5CB-43A9-A156-F010F413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Enam keputusan yang membuka implementasi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D8606-ADC8-43E2-A55B-F5615FB8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Tim teknis dapat mulai P0 sekarang; automation komersial memerlukan guardrail bisnis yang hanya dapat diputuskan CEO.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95FD3-95C5-4195-A6AD-DC399B7A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1D3A3-EDE8-4677-AFA1-4B64FB1A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44C02-BC64-4942-BDB1-039B62C8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8595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ICP &amp; channel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DBF41-17ED-4C22-B71E-120EADF0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2885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Industri, ukuran, jabatan, wilayah, exclusion list, dan batas penggunaan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5F72A-FFF7-4666-A7A3-2D4AE166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C681F-666B-467B-8D2E-B2D8D01C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050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385A7-C8F2-4E5D-96DA-C6C1F18C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8595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Catalog &amp; pricing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14668-8CC3-4821-A833-481B9980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2885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Modul, unit harga, minimum deal, discount ceiling, validity, dan pajak.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803B8-966A-4DC6-B917-38529A4D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E68FB-FE43-4834-99A6-EF3CC4EC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A27A0-BE11-486E-A7A8-A31A01C5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Human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7955BB-FBF8-432F-A02E-4558A5AB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Nilai deal, custom scope, confidence, reputational risk, dan SLA approval.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14DBE-A29E-4EE5-9273-85D174E1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705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EF939-9451-4877-B5A3-E182B9AD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75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D7FE1-AB94-42C2-81A9-DFF64FC3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385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Budget envelope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A3C4F6-518B-4B33-9D21-BEBB3545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814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Lean $55, email-pro $75, atau +Apollo monthly $140—plus cap AI dan media.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05591-E4BA-44C9-818A-719DAD15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2BD921-7457-4FE0-A8F8-D837E897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16C170-EAE8-40B1-8E69-5EC720FB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9105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Ownership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3D0BAB-12E2-452E-968C-5DC6D063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3395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Sales ops, product/tech, privacy/deliverability, delivery ops, dan approver.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160796-2C02-4A27-96DE-2525BD15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1960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AB98EE-8FDC-4EE4-AC44-C80BA84E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101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57085B-3AA9-4A3E-97CF-F618707E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9105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90-day KPI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AA997D-C166-46E7-B8C3-A81E52E8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3395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Completed assessment, qualified lead, meeting, proposal, win, CAC, dan spam rate.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73A48D-FAEE-4EE3-8BE1-36F534F0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391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DADDDE-05DB-4D53-BF31-F6952E5E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ACTION: approve Lean Production + P0 hardening; jangan membeli Trigger.dev sebelum ada bukti kebutuhan operasional.</a:t>
            </a:r>
          </a:p>
        </p:txBody>
      </p:sp>
    </p:spTree>
    <p:extLst>
      <p:ext uri="{BB962C8B-B14F-4D97-AF65-F5344CB8AC3E}">
        <p14:creationId xmlns:p14="http://schemas.microsoft.com/office/powerpoint/2010/main" val="391675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2026-08-25T07:28:07.0280000Z</dcterms:created>
  <dcterms:modified xsi:type="dcterms:W3CDTF">2026-08-25T07:28:07.0280000Z</dcterms:modified>
</coreProperties>
</file>