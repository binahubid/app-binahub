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0da9076ad8459f" /><Relationship Type="http://schemas.openxmlformats.org/officeDocument/2006/relationships/extended-properties" Target="/docProps/app.xml" Id="Rd6e640b1210a43ed" /><Relationship Type="http://schemas.openxmlformats.org/officeDocument/2006/relationships/officeDocument" Target="/ppt/presentation.xml" Id="Rc0ab1200279847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b6b80c73a5467c"/>
  </p:sldMasterIdLst>
  <p:notesMasterIdLst>
    <p:notesMasterId xmlns:r="http://schemas.openxmlformats.org/officeDocument/2006/relationships" r:id="Rf8728c2b456b4a9d"/>
  </p:notesMasterIdLst>
  <p:sldIdLst>
    <p:sldId xmlns:r="http://schemas.openxmlformats.org/officeDocument/2006/relationships" id="256" r:id="R161d091f4093486b"/>
    <p:sldId xmlns:r="http://schemas.openxmlformats.org/officeDocument/2006/relationships" id="257" r:id="Rc8091e85bb6b412e"/>
    <p:sldId xmlns:r="http://schemas.openxmlformats.org/officeDocument/2006/relationships" id="258" r:id="R1fe8fc86c38b40b6"/>
    <p:sldId xmlns:r="http://schemas.openxmlformats.org/officeDocument/2006/relationships" id="259" r:id="R871f6df48b864e6a"/>
    <p:sldId xmlns:r="http://schemas.openxmlformats.org/officeDocument/2006/relationships" id="260" r:id="R34ff02010ebb4832"/>
    <p:sldId xmlns:r="http://schemas.openxmlformats.org/officeDocument/2006/relationships" id="261" r:id="Rdd0d296d6eff4554"/>
    <p:sldId xmlns:r="http://schemas.openxmlformats.org/officeDocument/2006/relationships" id="262" r:id="Ra4c7edd4680149a6"/>
    <p:sldId xmlns:r="http://schemas.openxmlformats.org/officeDocument/2006/relationships" id="263" r:id="R59e34a31b4c44598"/>
    <p:sldId xmlns:r="http://schemas.openxmlformats.org/officeDocument/2006/relationships" id="264" r:id="R06afb6e3964f41f5"/>
    <p:sldId xmlns:r="http://schemas.openxmlformats.org/officeDocument/2006/relationships" id="265" r:id="R4e14dc6411a64a14"/>
    <p:sldId xmlns:r="http://schemas.openxmlformats.org/officeDocument/2006/relationships" id="266" r:id="R79f65a6154ff4eaa"/>
    <p:sldId xmlns:r="http://schemas.openxmlformats.org/officeDocument/2006/relationships" id="267" r:id="R16133d2e784f42da"/>
    <p:sldId xmlns:r="http://schemas.openxmlformats.org/officeDocument/2006/relationships" id="268" r:id="Raf922affaac946b2"/>
    <p:sldId xmlns:r="http://schemas.openxmlformats.org/officeDocument/2006/relationships" id="269" r:id="R4ab490ea40ed4f8a"/>
    <p:sldId xmlns:r="http://schemas.openxmlformats.org/officeDocument/2006/relationships" id="270" r:id="R3a25fd2857164840"/>
    <p:sldId xmlns:r="http://schemas.openxmlformats.org/officeDocument/2006/relationships" id="271" r:id="R8f03c8ecfdd940ad"/>
    <p:sldId xmlns:r="http://schemas.openxmlformats.org/officeDocument/2006/relationships" id="272" r:id="R83ee534bf24448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2973bea6364308" /><Relationship Type="http://schemas.openxmlformats.org/officeDocument/2006/relationships/slideMaster" Target="/ppt/slideMasters/slideMaster1.xml" Id="Ra6b6b80c73a5467c" /><Relationship Type="http://schemas.openxmlformats.org/officeDocument/2006/relationships/notesMaster" Target="/ppt/notesMasters/notesMaster1.xml" Id="Rf8728c2b456b4a9d" /><Relationship Type="http://schemas.openxmlformats.org/officeDocument/2006/relationships/presProps" Target="/ppt/presProps.xml" Id="R76d6a04492ac4389" /><Relationship Type="http://schemas.openxmlformats.org/officeDocument/2006/relationships/tableStyles" Target="/ppt/tableStyles.xml" Id="R100437e0adf84dd8" /><Relationship Type="http://schemas.openxmlformats.org/officeDocument/2006/relationships/slide" Target="/ppt/slides/slide1.xml" Id="R161d091f4093486b" /><Relationship Type="http://schemas.openxmlformats.org/officeDocument/2006/relationships/slide" Target="/ppt/slides/slide2.xml" Id="Rc8091e85bb6b412e" /><Relationship Type="http://schemas.openxmlformats.org/officeDocument/2006/relationships/slide" Target="/ppt/slides/slide3.xml" Id="R1fe8fc86c38b40b6" /><Relationship Type="http://schemas.openxmlformats.org/officeDocument/2006/relationships/slide" Target="/ppt/slides/slide4.xml" Id="R871f6df48b864e6a" /><Relationship Type="http://schemas.openxmlformats.org/officeDocument/2006/relationships/slide" Target="/ppt/slides/slide5.xml" Id="R34ff02010ebb4832" /><Relationship Type="http://schemas.openxmlformats.org/officeDocument/2006/relationships/slide" Target="/ppt/slides/slide6.xml" Id="Rdd0d296d6eff4554" /><Relationship Type="http://schemas.openxmlformats.org/officeDocument/2006/relationships/slide" Target="/ppt/slides/slide7.xml" Id="Ra4c7edd4680149a6" /><Relationship Type="http://schemas.openxmlformats.org/officeDocument/2006/relationships/slide" Target="/ppt/slides/slide8.xml" Id="R59e34a31b4c44598" /><Relationship Type="http://schemas.openxmlformats.org/officeDocument/2006/relationships/slide" Target="/ppt/slides/slide9.xml" Id="R06afb6e3964f41f5" /><Relationship Type="http://schemas.openxmlformats.org/officeDocument/2006/relationships/slide" Target="/ppt/slides/slide10.xml" Id="R4e14dc6411a64a14" /><Relationship Type="http://schemas.openxmlformats.org/officeDocument/2006/relationships/slide" Target="/ppt/slides/slide11.xml" Id="R79f65a6154ff4eaa" /><Relationship Type="http://schemas.openxmlformats.org/officeDocument/2006/relationships/slide" Target="/ppt/slides/slide12.xml" Id="R16133d2e784f42da" /><Relationship Type="http://schemas.openxmlformats.org/officeDocument/2006/relationships/slide" Target="/ppt/slides/slide13.xml" Id="Raf922affaac946b2" /><Relationship Type="http://schemas.openxmlformats.org/officeDocument/2006/relationships/slide" Target="/ppt/slides/slide14.xml" Id="R4ab490ea40ed4f8a" /><Relationship Type="http://schemas.openxmlformats.org/officeDocument/2006/relationships/slide" Target="/ppt/slides/slide15.xml" Id="R3a25fd2857164840" /><Relationship Type="http://schemas.openxmlformats.org/officeDocument/2006/relationships/slide" Target="/ppt/slides/slide16.xml" Id="R8f03c8ecfdd940ad" /><Relationship Type="http://schemas.openxmlformats.org/officeDocument/2006/relationships/slide" Target="/ppt/slides/slide17.xml" Id="R83ee534bf24448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11416bf7304d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2e559977764ad3" /><Relationship Type="http://schemas.openxmlformats.org/officeDocument/2006/relationships/notesMaster" Target="/ppt/notesMasters/notesMaster1.xml" Id="R8f32958353e44c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bb7fe9c9e4409a" /><Relationship Type="http://schemas.openxmlformats.org/officeDocument/2006/relationships/notesMaster" Target="/ppt/notesMasters/notesMaster1.xml" Id="Rb0fe580c7b024a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ff7a07a7404c1b" /><Relationship Type="http://schemas.openxmlformats.org/officeDocument/2006/relationships/notesMaster" Target="/ppt/notesMasters/notesMaster1.xml" Id="Red2ef709365e4a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70c8fc127f4d28" /><Relationship Type="http://schemas.openxmlformats.org/officeDocument/2006/relationships/notesMaster" Target="/ppt/notesMasters/notesMaster1.xml" Id="Ree1dd1fe64364b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3fb10a7b5544fc" /><Relationship Type="http://schemas.openxmlformats.org/officeDocument/2006/relationships/notesMaster" Target="/ppt/notesMasters/notesMaster1.xml" Id="R7607312e6a084e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12544adfce4e8f" /><Relationship Type="http://schemas.openxmlformats.org/officeDocument/2006/relationships/notesMaster" Target="/ppt/notesMasters/notesMaster1.xml" Id="R5dbf3207c8bd4c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59f7c810334b09" /><Relationship Type="http://schemas.openxmlformats.org/officeDocument/2006/relationships/notesMaster" Target="/ppt/notesMasters/notesMaster1.xml" Id="R00602d74abda40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48b1c73a0d4b4a" /><Relationship Type="http://schemas.openxmlformats.org/officeDocument/2006/relationships/notesMaster" Target="/ppt/notesMasters/notesMaster1.xml" Id="R2f0fabafb71a4d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83a3a3d75f48ea" /><Relationship Type="http://schemas.openxmlformats.org/officeDocument/2006/relationships/notesMaster" Target="/ppt/notesMasters/notesMaster1.xml" Id="Rde6ee47ee7ac46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1d89da17c847f2" /><Relationship Type="http://schemas.openxmlformats.org/officeDocument/2006/relationships/notesMaster" Target="/ppt/notesMasters/notesMaster1.xml" Id="R8496da1098f44c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632f6677284137" /><Relationship Type="http://schemas.openxmlformats.org/officeDocument/2006/relationships/notesMaster" Target="/ppt/notesMasters/notesMaster1.xml" Id="R5efb4b58b9f749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09ad7f0d9404ba9" /><Relationship Type="http://schemas.openxmlformats.org/officeDocument/2006/relationships/notesMaster" Target="/ppt/notesMasters/notesMaster1.xml" Id="R1ad68380f94348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94324e4556e4cc6" /><Relationship Type="http://schemas.openxmlformats.org/officeDocument/2006/relationships/notesMaster" Target="/ppt/notesMasters/notesMaster1.xml" Id="R213723fb4bd741d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08786a6e61d4792" /><Relationship Type="http://schemas.openxmlformats.org/officeDocument/2006/relationships/notesMaster" Target="/ppt/notesMasters/notesMaster1.xml" Id="R6a1986b37bae46a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d7779b40de34b8e" /><Relationship Type="http://schemas.openxmlformats.org/officeDocument/2006/relationships/notesMaster" Target="/ppt/notesMasters/notesMaster1.xml" Id="R436bc33f8cb34a1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e1b20d73bfd40be" /><Relationship Type="http://schemas.openxmlformats.org/officeDocument/2006/relationships/notesMaster" Target="/ppt/notesMasters/notesMaster1.xml" Id="R6d96b91f8ffd430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3321fe1c73d48ec" /><Relationship Type="http://schemas.openxmlformats.org/officeDocument/2006/relationships/notesMaster" Target="/ppt/notesMasters/notesMaster1.xml" Id="R611941f1cbce47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Buka dengan hasil: fondasi produk sudah ada, tetapi loop komersial belum menjadi satu state machine. Deck ini memisahkan investasi wajib, usage-based, dan media spend.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file:///C:/Users/USER/OneDrive/Documents/Dokumen%20Binahub/website-prod/public/full-logo.png</a:t>
            </a:r>
          </a:p>
          <a:p xmlns:a="http://schemas.openxmlformats.org/drawingml/2006/main">
            <a:r>
              <a:t>- file:///C:/Users/USER/OneDrive/Documents/Dokumen%20Binahub/website-prod/public/asset/ai-globe.png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Readiness di slide ini berbasis audit repository, bukan verifikasi deployment production atau kontrak vendor aktif.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file:///C:/Users/USER/OneDrive/Documents/Dokumen%20Binahub/website-prod/src/app/insight/page.tsx</a:t>
            </a:r>
          </a:p>
          <a:p xmlns:a="http://schemas.openxmlformats.org/drawingml/2006/main">
            <a:r>
              <a:t>- file:///C:/Users/USER/OneDrive/Documents/Dokumen%20Binahub/binahub-api/src/app/api/assessment/route.ts</a:t>
            </a:r>
          </a:p>
          <a:p xmlns:a="http://schemas.openxmlformats.org/drawingml/2006/main">
            <a:r>
              <a:t>- file:///C:/Users/USER/OneDrive/Documents/Dokumen%20Binahub/binahub-api/src/app/api/admin/follow-up/route.ts</a:t>
            </a:r>
          </a:p>
          <a:p xmlns:a="http://schemas.openxmlformats.org/drawingml/2006/main">
            <a:r>
              <a:t>- file:///C:/Users/USER/OneDrive/Documents/Dokumen%20Binahub/app-binahub/src/lib/program-modules.ts</a:t>
            </a:r>
          </a:p>
          <a:p xmlns:a="http://schemas.openxmlformats.org/drawingml/2006/main">
            <a:r>
              <a:t>- file:///C:/Users/USER/OneDrive/Documents/Dokumen%20Binahub/binahub-api/src/app/api/admin/project-autopilot/route.ts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 memperhalus sketsa CEO menjadi operating model. Lead adalah titik human-in-the-loop utama; Retain mengalir balik ke data konsumen.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file:///C:/Users/USER/Downloads/BinaHub%20Business%20Process.png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Apollo diposisikan sebagai penyedia data/prospecting berizin; enhanced conversions dan UTM menutup loop ads ke outcome offline.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file:///C:/Users/USER/OneDrive/Documents/Dokumen%20Binahub/website-prod/src/app/insight/page.tsx</a:t>
            </a:r>
          </a:p>
          <a:p xmlns:a="http://schemas.openxmlformats.org/drawingml/2006/main">
            <a:r>
              <a:t>- https://docs.apollo.io/reference/search-for-contacts</a:t>
            </a:r>
          </a:p>
          <a:p xmlns:a="http://schemas.openxmlformats.org/drawingml/2006/main">
            <a:r>
              <a:t>- https://support.google.com/google-ads/answer/10868881?hl=en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BinaInsight harus tetap gratis dan tanpa autentikasi. Untuk program, modul BinaInsight sudah terdaftar dan assessment dapat ditautkan ke program/participant.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file:///C:/Users/USER/OneDrive/Documents/Dokumen%20Binahub/website-prod/src/app/insight/page.tsx</a:t>
            </a:r>
          </a:p>
          <a:p xmlns:a="http://schemas.openxmlformats.org/drawingml/2006/main">
            <a:r>
              <a:t>- file:///C:/Users/USER/OneDrive/Documents/Dokumen%20Binahub/binahub-api/src/app/api/assessment/route.ts</a:t>
            </a:r>
          </a:p>
          <a:p xmlns:a="http://schemas.openxmlformats.org/drawingml/2006/main">
            <a:r>
              <a:t>- file:///C:/Users/USER/OneDrive/Documents/Dokumen%20Binahub/binahub-api/src/lib/pdf-service.tsx</a:t>
            </a:r>
          </a:p>
          <a:p xmlns:a="http://schemas.openxmlformats.org/drawingml/2006/main">
            <a:r>
              <a:t>- file:///C:/Users/USER/OneDrive/Documents/Dokumen%20Binahub/binahub-api/src/app/api/proposal/request/route.ts</a:t>
            </a:r>
          </a:p>
          <a:p xmlns:a="http://schemas.openxmlformats.org/drawingml/2006/main">
            <a:r>
              <a:t>- file:///C:/Users/USER/OneDrive/Documents/Dokumen%20Binahub/binahub-api/supabase/migrations/0022_binainsight_program_module.sql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Skor threshold adalah desain usulan, bukan fakta dari sistem saat ini. Sistem sekarang menggunakan hot/warm/cold pada AI dan label operasional berbeda pada admin.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file:///C:/Users/USER/OneDrive/Documents/Dokumen%20Binahub/binahub-api/src/lib/ai-service.ts</a:t>
            </a:r>
          </a:p>
          <a:p xmlns:a="http://schemas.openxmlformats.org/drawingml/2006/main">
            <a:r>
              <a:t>- file:///C:/Users/USER/OneDrive/Documents/Dokumen%20Binahub/binahub-api/src/lib/admin-mutation-schemas.ts</a:t>
            </a:r>
          </a:p>
          <a:p xmlns:a="http://schemas.openxmlformats.org/drawingml/2006/main">
            <a:r>
              <a:t>- https://supabase.com/docs/guides/queues</a:t>
            </a:r>
          </a:p>
          <a:p xmlns:a="http://schemas.openxmlformats.org/drawingml/2006/main">
            <a:r>
              <a:t>- https://supabase.com/docs/guides/cron/quickstart</a:t>
            </a:r>
          </a:p>
          <a:p xmlns:a="http://schemas.openxmlformats.org/drawingml/2006/main">
            <a:r>
              <a:t>- https://developer.calendly.com/api-use-cases</a:t>
            </a:r>
          </a:p>
          <a:p xmlns:a="http://schemas.openxmlformats.org/drawingml/2006/main">
            <a:r>
              <a:t>- https://developer.calendly.com/receive-data-from-scheduled-events-in-real-time-with-webhook-subscriptions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Route follow-up saat ini menghitung due date dari created/result/proposal timestamps. Desain target memakai last meaningful activity dan webhook events.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file:///C:/Users/USER/OneDrive/Documents/Dokumen%20Binahub/binahub-api/src/app/api/admin/follow-up/route.ts</a:t>
            </a:r>
          </a:p>
          <a:p xmlns:a="http://schemas.openxmlformats.org/drawingml/2006/main">
            <a:r>
              <a:t>- file:///C:/Users/USER/OneDrive/Documents/Dokumen%20Binahub/binahub-api/src/lib/email-service.ts</a:t>
            </a:r>
          </a:p>
          <a:p xmlns:a="http://schemas.openxmlformats.org/drawingml/2006/main">
            <a:r>
              <a:t>- file:///C:/Users/USER/OneDrive/Documents/Dokumen%20Binahub/binahub-api/supabase/migrations/0022_binainsight_program_module.sql</a:t>
            </a:r>
          </a:p>
          <a:p xmlns:a="http://schemas.openxmlformats.org/drawingml/2006/main">
            <a:r>
              <a:t>- https://resend.com/docs/webhooks/event-types</a:t>
            </a:r>
          </a:p>
          <a:p xmlns:a="http://schemas.openxmlformats.org/drawingml/2006/main">
            <a:r>
              <a:t>- https://supabase.com/docs/guides/queues</a:t>
            </a:r>
          </a:p>
          <a:p xmlns:a="http://schemas.openxmlformats.org/drawingml/2006/main">
            <a:r>
              <a:t>- https://supabase.com/docs/guides/cron/quickstart</a:t>
            </a:r>
          </a:p>
          <a:p xmlns:a="http://schemas.openxmlformats.org/drawingml/2006/main">
            <a:r>
              <a:t>- https://developer.calendly.com/receive-data-from-scheduled-events-in-real-time-with-webhook-subscriptions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 blocked berarti code path ada, tetapi clean deployment dari migrations tidak menjamin seluruh tabel/kolom yang dirujuk Autopilot tersedia.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file:///C:/Users/USER/OneDrive/Documents/Dokumen%20Binahub/app-binahub/src/app/admin/engagements/page.tsx</a:t>
            </a:r>
          </a:p>
          <a:p xmlns:a="http://schemas.openxmlformats.org/drawingml/2006/main">
            <a:r>
              <a:t>- file:///C:/Users/USER/OneDrive/Documents/Dokumen%20Binahub/app-binahub/src/lib/program-modules.ts</a:t>
            </a:r>
          </a:p>
          <a:p xmlns:a="http://schemas.openxmlformats.org/drawingml/2006/main">
            <a:r>
              <a:t>- file:///C:/Users/USER/OneDrive/Documents/Dokumen%20Binahub/binahub-api/src/app/api/admin/project-autopilot/route.ts</a:t>
            </a:r>
          </a:p>
          <a:p xmlns:a="http://schemas.openxmlformats.org/drawingml/2006/main">
            <a:r>
              <a:t>- file:///C:/Users/USER/OneDrive/Documents/Dokumen%20Binahub/binahub-api/supabase/migrations/0007_admin_tables.sql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Retain harus memperbarui Data Konsumen melalui relationship history, bukan menghapus PIC lama. Ini menjaga institutional memory saat HRD berubah.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file:///C:/Users/USER/OneDrive/Documents/Dokumen%20Binahub/app-binahub/src/app/admin/engagements/page.tsx</a:t>
            </a:r>
          </a:p>
          <a:p xmlns:a="http://schemas.openxmlformats.org/drawingml/2006/main">
            <a:r>
              <a:t>- file:///C:/Users/USER/OneDrive/Documents/Dokumen%20Binahub/binahub-api/src/lib/transformation/service.ts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Keputusan: jangan membeli Trigger.dev sekarang. Gunakan Supabase Cron + Queues dan transactional outbox sebagai baseline. Trigger.dev hanya opsi fase berikut jika durable execution, wait multi-hari, retry, dan observability workflow menjadi beban operasional. PostHog mengukur funnel; Sentry menangkap error dan job gagal—keduanya bukan system of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https://trigger.dev/pricing</a:t>
            </a:r>
          </a:p>
          <a:p xmlns:a="http://schemas.openxmlformats.org/drawingml/2006/main">
            <a:r>
              <a:t>- https://supabase.com/docs/guides/queues</a:t>
            </a:r>
          </a:p>
          <a:p xmlns:a="http://schemas.openxmlformats.org/drawingml/2006/main">
            <a:r>
              <a:t>- https://supabase.com/docs/guides/cron/quickstart</a:t>
            </a:r>
          </a:p>
          <a:p xmlns:a="http://schemas.openxmlformats.org/drawingml/2006/main">
            <a:r>
              <a:t>- https://posthog.com/</a:t>
            </a:r>
          </a:p>
          <a:p xmlns:a="http://schemas.openxmlformats.org/drawingml/2006/main">
            <a:r>
              <a:t>- https://sentry.io/pricing/</a:t>
            </a:r>
          </a:p>
          <a:p xmlns:a="http://schemas.openxmlformats.org/drawingml/2006/main">
            <a:r>
              <a:t>- https://developer.calendly.com/receive-data-from-scheduled-events-in-real-time-with-webhook-subscriptions</a:t>
            </a:r>
          </a:p>
          <a:p xmlns:a="http://schemas.openxmlformats.org/drawingml/2006/main">
            <a:r>
              <a:t>- https://resend.com/docs/webhooks/event-types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Mirror menunjukkan BinaInsight juga ada di app; sumber publik utama tetap website-prod sesuai arahan. Status blocked pada delivery terutama berasal dari schema drift Automation Center.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file:///C:/Users/USER/OneDrive/Documents/Dokumen%20Binahub/website-prod/src/app/insight/page.tsx</a:t>
            </a:r>
          </a:p>
          <a:p xmlns:a="http://schemas.openxmlformats.org/drawingml/2006/main">
            <a:r>
              <a:t>- file:///C:/Users/USER/OneDrive/Documents/Dokumen%20Binahub/app-binahub/src/app/admin/assessments/page.tsx</a:t>
            </a:r>
          </a:p>
          <a:p xmlns:a="http://schemas.openxmlformats.org/drawingml/2006/main">
            <a:r>
              <a:t>- file:///C:/Users/USER/OneDrive/Documents/Dokumen%20Binahub/app-binahub/src/lib/program-modules.ts</a:t>
            </a:r>
          </a:p>
          <a:p xmlns:a="http://schemas.openxmlformats.org/drawingml/2006/main">
            <a:r>
              <a:t>- file:///C:/Users/USER/OneDrive/Documents/Dokumen%20Binahub/binahub-api/src/app/api/assessment/route.ts</a:t>
            </a:r>
          </a:p>
          <a:p xmlns:a="http://schemas.openxmlformats.org/drawingml/2006/main">
            <a:r>
              <a:t>- file:///C:/Users/USER/OneDrive/Documents/Dokumen%20Binahub/binahub-api/src/lib/pdf-service.tsx</a:t>
            </a:r>
          </a:p>
          <a:p xmlns:a="http://schemas.openxmlformats.org/drawingml/2006/main">
            <a:r>
              <a:t>- file:///C:/Users/USER/OneDrive/Documents/Dokumen%20Binahub/binahub-api/src/app/api/admin/follow-up/route.ts</a:t>
            </a:r>
          </a:p>
          <a:p xmlns:a="http://schemas.openxmlformats.org/drawingml/2006/main">
            <a:r>
              <a:t>- file:///C:/Users/USER/OneDrive/Documents/Dokumen%20Binahub/binahub-api/src/app/api/admin/project-autopilot/route.ts</a:t>
            </a:r>
          </a:p>
          <a:p xmlns:a="http://schemas.openxmlformats.org/drawingml/2006/main">
            <a:r>
              <a:t>- file:///C:/Users/USER/OneDrive/Documents/Dokumen%20Binahub/app-binahub/src/lib/analytics.ts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Temuan P0 dibuktikan dari route dan migrations lokal. Worker event_queue memilih pending lalu mengubah processing pada call terpisah; failed event tidak otomatis dijadwalkan ulang.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file:///C:/Users/USER/OneDrive/Documents/Dokumen%20Binahub/binahub-api/src/app/api/admin/project-autopilot/route.ts</a:t>
            </a:r>
          </a:p>
          <a:p xmlns:a="http://schemas.openxmlformats.org/drawingml/2006/main">
            <a:r>
              <a:t>- file:///C:/Users/USER/OneDrive/Documents/Dokumen%20Binahub/binahub-api/supabase/migrations/0007_admin_tables.sql</a:t>
            </a:r>
          </a:p>
          <a:p xmlns:a="http://schemas.openxmlformats.org/drawingml/2006/main">
            <a:r>
              <a:t>- file:///C:/Users/USER/OneDrive/Documents/Dokumen%20Binahub/binahub-api/src/app/api/contact/route.ts</a:t>
            </a:r>
          </a:p>
          <a:p xmlns:a="http://schemas.openxmlformats.org/drawingml/2006/main">
            <a:r>
              <a:t>- file:///C:/Users/USER/OneDrive/Documents/Dokumen%20Binahub/website-prod/src/components/chat-bot.tsx</a:t>
            </a:r>
          </a:p>
          <a:p xmlns:a="http://schemas.openxmlformats.org/drawingml/2006/main">
            <a:r>
              <a:t>- file:///C:/Users/USER/OneDrive/Documents/Dokumen%20Binahub/binahub-api/src/app/api/chat/route.ts</a:t>
            </a:r>
          </a:p>
          <a:p xmlns:a="http://schemas.openxmlformats.org/drawingml/2006/main">
            <a:r>
              <a:t>- file:///C:/Users/USER/OneDrive/Documents/Dokumen%20Binahub/binahub-api/src/lib/ai-service.ts</a:t>
            </a:r>
          </a:p>
          <a:p xmlns:a="http://schemas.openxmlformats.org/drawingml/2006/main">
            <a:r>
              <a:t>- file:///C:/Users/USER/OneDrive/Documents/Dokumen%20Binahub/binahub-api/src/lib/admin-mutation-schemas.ts</a:t>
            </a:r>
          </a:p>
          <a:p xmlns:a="http://schemas.openxmlformats.org/drawingml/2006/main">
            <a:r>
              <a:t>- file:///C:/Users/USER/OneDrive/Documents/Dokumen%20Binahub/binahub-api/src/lib/transformation/service.ts</a:t>
            </a:r>
          </a:p>
          <a:p xmlns:a="http://schemas.openxmlformats.org/drawingml/2006/main">
            <a:r>
              <a:t>- file:///C:/Users/USER/OneDrive/Documents/Dokumen%20Binahub/binahub-api/src/lib/email-service.ts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Lean Production menggunakan Vercel $20 + Supabase $25 + Calendly Standard $10 (annual billing); Resend, PostHog, dan Sentry mulai dari free. Email Pro menambah Resend $20. Apollo Basic pada screenshot monthly billing adalah $65/seat/bulan; harga annual equivalent resmi dapat berbeda. Trigger.dev tidak termasuk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https://vercel.com/pricing</a:t>
            </a:r>
          </a:p>
          <a:p xmlns:a="http://schemas.openxmlformats.org/drawingml/2006/main">
            <a:r>
              <a:t>- https://supabase.com/pricing</a:t>
            </a:r>
          </a:p>
          <a:p xmlns:a="http://schemas.openxmlformats.org/drawingml/2006/main">
            <a:r>
              <a:t>- https://resend.com/pricing</a:t>
            </a:r>
          </a:p>
          <a:p xmlns:a="http://schemas.openxmlformats.org/drawingml/2006/main">
            <a:r>
              <a:t>- https://calendly.com/pricing/</a:t>
            </a:r>
          </a:p>
          <a:p xmlns:a="http://schemas.openxmlformats.org/drawingml/2006/main">
            <a:r>
              <a:t>- https://trigger.dev/pricing</a:t>
            </a:r>
          </a:p>
          <a:p xmlns:a="http://schemas.openxmlformats.org/drawingml/2006/main">
            <a:r>
              <a:t>- https://www.apollo.io/pricing</a:t>
            </a:r>
          </a:p>
          <a:p xmlns:a="http://schemas.openxmlformats.org/drawingml/2006/main">
            <a:r>
              <a:t>- https://posthog.com/</a:t>
            </a:r>
          </a:p>
          <a:p xmlns:a="http://schemas.openxmlformats.org/drawingml/2006/main">
            <a:r>
              <a:t>- https://sentry.io/pricing/</a:t>
            </a:r>
          </a:p>
          <a:p xmlns:a="http://schemas.openxmlformats.org/drawingml/2006/main">
            <a:r>
              <a:t>- https://www.bi.go.id/en/statistik/informasi-kurs/transaksi-bi/jisdor/default.aspx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Harga yang ditampilkan adalah list price resmi saat riset. Apollo/Calendly annual pricing membutuhkan pembayaran tahunan walau disajikan per bulan; harga aktual invoice dapat berubah karena pajak dan kurs.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https://vercel.com/pricing</a:t>
            </a:r>
          </a:p>
          <a:p xmlns:a="http://schemas.openxmlformats.org/drawingml/2006/main">
            <a:r>
              <a:t>- https://supabase.com/pricing</a:t>
            </a:r>
          </a:p>
          <a:p xmlns:a="http://schemas.openxmlformats.org/drawingml/2006/main">
            <a:r>
              <a:t>- https://resend.com/pricing</a:t>
            </a:r>
          </a:p>
          <a:p xmlns:a="http://schemas.openxmlformats.org/drawingml/2006/main">
            <a:r>
              <a:t>- https://calendly.com/pricing/</a:t>
            </a:r>
          </a:p>
          <a:p xmlns:a="http://schemas.openxmlformats.org/drawingml/2006/main">
            <a:r>
              <a:t>- https://trigger.dev/pricing</a:t>
            </a:r>
          </a:p>
          <a:p xmlns:a="http://schemas.openxmlformats.org/drawingml/2006/main">
            <a:r>
              <a:t>- https://www.apollo.io/pricing</a:t>
            </a:r>
          </a:p>
          <a:p xmlns:a="http://schemas.openxmlformats.org/drawingml/2006/main">
            <a:r>
              <a:t>- https://openrouter.ai/pricing</a:t>
            </a:r>
          </a:p>
          <a:p xmlns:a="http://schemas.openxmlformats.org/drawingml/2006/main">
            <a:r>
              <a:t>- https://posthog.com/</a:t>
            </a:r>
          </a:p>
          <a:p xmlns:a="http://schemas.openxmlformats.org/drawingml/2006/main">
            <a:r>
              <a:t>- https://sentry.io/pricing/</a:t>
            </a:r>
          </a:p>
          <a:p xmlns:a="http://schemas.openxmlformats.org/drawingml/2006/main">
            <a:r>
              <a:t>- https://www.bi.go.id/en/statistik/informasi-kurs/transaksi-bi/jisdor/default.aspx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Envelope variable adalah rekomendasi internal untuk budgeting. Angka bukan harga resmi Google/Meta atau jaminan hasil. Pengukuran 30 hari pertama harus menentukan alokasi berikutnya.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https://www.bi.go.id/en/statistik/informasi-kurs/transaksi-bi/jisdor/default.aspx</a:t>
            </a:r>
          </a:p>
          <a:p xmlns:a="http://schemas.openxmlformats.org/drawingml/2006/main">
            <a:r>
              <a:t>- https://support.google.com/google-ads/answer/10868881?hl=en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mengutamakan reliability sebelum acquisition scale. Calendly dan Apollo dibeli saat fase relevan. Evaluasi Trigger.dev pada hari 60 hanya jika Supabase Cron/Queues tidak lagi memadai.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https://trigger.dev/pricing</a:t>
            </a:r>
          </a:p>
          <a:p xmlns:a="http://schemas.openxmlformats.org/drawingml/2006/main">
            <a:r>
              <a:t>- https://supabase.com/docs/guides/queues</a:t>
            </a:r>
          </a:p>
          <a:p xmlns:a="http://schemas.openxmlformats.org/drawingml/2006/main">
            <a:r>
              <a:t>- https://supabase.com/docs/guides/cron/quickstart</a:t>
            </a:r>
          </a:p>
          <a:p xmlns:a="http://schemas.openxmlformats.org/drawingml/2006/main">
            <a:r>
              <a:t>- https://calendly.com/pricing/</a:t>
            </a:r>
          </a:p>
          <a:p xmlns:a="http://schemas.openxmlformats.org/drawingml/2006/main">
            <a:r>
              <a:t>- https://www.apollo.io/pricing</a:t>
            </a:r>
          </a:p>
          <a:p xmlns:a="http://schemas.openxmlformats.org/drawingml/2006/main">
            <a:r>
              <a:t>- https://posthog.com/</a:t>
            </a:r>
          </a:p>
          <a:p xmlns:a="http://schemas.openxmlformats.org/drawingml/2006/main">
            <a:r>
              <a:t>- https://sentry.io/pricing/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Tutup dengan keputusan, bukan fitur. Begitu enam guardrail disetujui, workflow dapat dibangun tanpa banyak keputusan ad hoc di tengah implementasi.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https://www.bi.go.id/en/statistik/informasi-kurs/transaksi-bi/jisdor/default.aspx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2f603b1e9446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03aad35a394b5e" /><Relationship Type="http://schemas.openxmlformats.org/officeDocument/2006/relationships/slideLayout" Target="/ppt/slideLayouts/slideLayout1.xml" Id="Rd35e2abc243942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5e2abc243942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0eb23d3d8423d" /><Relationship Type="http://schemas.openxmlformats.org/officeDocument/2006/relationships/image" Target="/ppt/media/image.png" Id="R58123a5936464f7c" /><Relationship Type="http://schemas.openxmlformats.org/officeDocument/2006/relationships/image" Target="/ppt/media/image2.png" Id="R41378e12f8354b3e" /><Relationship Type="http://schemas.openxmlformats.org/officeDocument/2006/relationships/notesSlide" Target="/ppt/notesSlides/notesSlide1.xml" Id="R62bf2488feed4b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da8dde29e47ef" /><Relationship Type="http://schemas.openxmlformats.org/officeDocument/2006/relationships/notesSlide" Target="/ppt/notesSlides/notesSlide2.xml" Id="R8880ba33d64e4d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c3704d21747ec" /><Relationship Type="http://schemas.openxmlformats.org/officeDocument/2006/relationships/notesSlide" Target="/ppt/notesSlides/notesSlide3.xml" Id="Rfc329113c5c340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f588a0f2e243aa" /><Relationship Type="http://schemas.openxmlformats.org/officeDocument/2006/relationships/notesSlide" Target="/ppt/notesSlides/notesSlide4.xml" Id="R66490c85ef1646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1293c8c044096" /><Relationship Type="http://schemas.openxmlformats.org/officeDocument/2006/relationships/notesSlide" Target="/ppt/notesSlides/notesSlide5.xml" Id="R2c39e6c2173444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b180573a34a95" /><Relationship Type="http://schemas.openxmlformats.org/officeDocument/2006/relationships/notesSlide" Target="/ppt/notesSlides/notesSlide6.xml" Id="R85151833d53a4d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65d989af840c4" /><Relationship Type="http://schemas.openxmlformats.org/officeDocument/2006/relationships/notesSlide" Target="/ppt/notesSlides/notesSlide7.xml" Id="Rebdf633e967c46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0959d22c14947" /><Relationship Type="http://schemas.openxmlformats.org/officeDocument/2006/relationships/notesSlide" Target="/ppt/notesSlides/notesSlide8.xml" Id="Rc0bba059a50846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3ebd1ccad4dd4" /><Relationship Type="http://schemas.openxmlformats.org/officeDocument/2006/relationships/notesSlide" Target="/ppt/notesSlides/notesSlide9.xml" Id="R8f46809e06014a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0e58469574fd0" /><Relationship Type="http://schemas.openxmlformats.org/officeDocument/2006/relationships/notesSlide" Target="/ppt/notesSlides/notesSlide10.xml" Id="Ra0119b28871545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2e5d1e08b4bdd" /><Relationship Type="http://schemas.openxmlformats.org/officeDocument/2006/relationships/notesSlide" Target="/ppt/notesSlides/notesSlide11.xml" Id="Ra5d8c221734b46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b00b2fa2e4915" /><Relationship Type="http://schemas.openxmlformats.org/officeDocument/2006/relationships/notesSlide" Target="/ppt/notesSlides/notesSlide12.xml" Id="R22ea542c20d849e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f21a0f04f400f" /><Relationship Type="http://schemas.openxmlformats.org/officeDocument/2006/relationships/notesSlide" Target="/ppt/notesSlides/notesSlide13.xml" Id="R2b92ecebee6e440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fa125f3ef4341" /><Relationship Type="http://schemas.openxmlformats.org/officeDocument/2006/relationships/notesSlide" Target="/ppt/notesSlides/notesSlide14.xml" Id="Rc867f15bf2fb438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960d37f364c55" /><Relationship Type="http://schemas.openxmlformats.org/officeDocument/2006/relationships/notesSlide" Target="/ppt/notesSlides/notesSlide15.xml" Id="Raa39c509478e4ab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85308ef594da0" /><Relationship Type="http://schemas.openxmlformats.org/officeDocument/2006/relationships/notesSlide" Target="/ppt/notesSlides/notesSlide16.xml" Id="Rfbe889fdb7fa46c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e424953994557" /><Relationship Type="http://schemas.openxmlformats.org/officeDocument/2006/relationships/notesSlide" Target="/ppt/notesSlides/notesSlide17.xml" Id="Raf52b363b16d40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DF63E0-18E4-4C83-9305-9CF13F1B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CEO DECISION DECK · 25 AGUSTUS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3A5F3-6CD7-47C4-A704-D53DEC77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5334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BinaHub AI</a:t>
            </a:r>
          </a:p>
          <a:p xmlns:a="http://schemas.openxmlformats.org/drawingml/2006/main">
            <a:pPr algn="l">
              <a:defRPr sz="40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Business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25FA6-5528-4CFF-A4A9-EF41457C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523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Workflow end-to-end, kesiapan sistem, stack, human-in-the-loop, dan investasi bulanan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89C99-C791-45EC-B09B-5E72E955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52387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40948-4B50-4800-BF1E-2199ABFD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TUJUAN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4EB27-E585-4BF4-BE77-5E39AF71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3870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Mengubah enam tahap bisnis menjadi satu loop yang terukur—AI menangani volume; manusia menjaga keputusan bernilai tinggi.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A65AC-B935-44CD-B221-37C912F8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0050"/>
            <a:ext cx="5638800" cy="56007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EDF4F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123a5936464f7c"/>
          <a:stretch xmlns:a="http://schemas.openxmlformats.org/drawingml/2006/main"/>
        </p:blipFill>
        <p:spPr>
          <a:xfrm xmlns:a="http://schemas.openxmlformats.org/drawingml/2006/main">
            <a:off x="6496050" y="704850"/>
            <a:ext cx="4953000" cy="4953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6A0773-3DFA-456C-A959-A91275F0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819150"/>
            <a:ext cx="1981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EDF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7B28D-279E-4BD9-92A4-6D02F81C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82867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DATA → PROSPECT → LEAD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7CF610-365E-4FB9-9179-99859FEF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81150"/>
            <a:ext cx="2057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FF5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A9F6B-D28B-4155-BF27-348EB20F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906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FOLLOW-UP → CLIENT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716794-E6BE-41FD-81D4-4CBA0E0A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53000"/>
            <a:ext cx="1676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ECFD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207BC8-8B3A-4D25-9C12-85508771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6252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RETAIN → DATA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78e12f8354b3e"/>
          <a:stretch xmlns:a="http://schemas.openxmlformats.org/drawingml/2006/main"/>
        </p:blipFill>
        <p:spPr>
          <a:xfrm xmlns:a="http://schemas.openxmlformats.org/drawingml/2006/main">
            <a:off x="644638" y="5943600"/>
            <a:ext cx="1606323" cy="4572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21C24A-1FC6-43BE-9A5C-D9239941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91250"/>
            <a:ext cx="539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Disusun dari audit code-based: app-binahub · binahub-api · website-prod</a:t>
            </a:r>
          </a:p>
        </p:txBody>
      </p:sp>
    </p:spTree>
    <p:extLst>
      <p:ext uri="{BB962C8B-B14F-4D97-AF65-F5344CB8AC3E}">
        <p14:creationId xmlns:p14="http://schemas.microsoft.com/office/powerpoint/2010/main" val="21029800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845A9D-2877-49D1-A740-878F09BF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RINGKASAN EKSEKUTIF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7E896-E6D2-45F0-AA63-A8E9D296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12674-8DA9-4DAE-827F-D81C4A2F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F3EA9-043F-4D25-8475-E4C2C222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Fondasi siap; mesin pertumbuhan belum tersambung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801CB-7337-4425-B506-1A119D6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Keputusan terbaik bukan membeli semua tools sekaligus, melainkan menuntaskan satu vertical slice yang dapat diukur.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07C09-F910-4D77-8CFC-075D4EA8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56235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ECFD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E9983-8F54-49E4-9D23-DFCC6AF3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SUDAH SIAP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F3F18-B294-4A5D-A343-6C4FFADF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FOUNDATION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CF042-70BD-472B-94B5-EB69499D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3143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BinaInsight publik, scoring, PDF + email, admin assessment, modul program, engagement dan delivery dasar.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625A27-AC65-4630-8377-59D418FC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90700"/>
            <a:ext cx="356235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FF5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0E76AA-9FA2-4ECC-8286-B67C2973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PERLU DIPERKERAS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942A88-9654-4DB6-A8DE-BD0C25F5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622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8F79BC-21EA-4620-B36A-75A71030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48000"/>
            <a:ext cx="3143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Lifecycle/status, schema migrations, event worker, contact/chat reliability, stop condition follow-up.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836A8A-BE88-4C73-96B9-FB763E1F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90700"/>
            <a:ext cx="356235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EDF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EB376E-321E-49FE-8B02-4B9DA6B1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002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PERLU DIBANGUN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6A0F85-4E04-45CC-8E75-A7D3C3AB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622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GROWTH LOOP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DF4F75-18F8-40D7-912B-8538CCE0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48000"/>
            <a:ext cx="3143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Attribution, Apollo workflow, Calendly webhook, pricing configurator, client health dan retain playbook.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28F77F-FB2F-470D-89D9-79012CA3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3919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28FB70-D65D-4307-A6E4-37832C95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REKOMENDASI CEO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8E60E0-113A-4D7B-93AD-2A72400C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6735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Investasi awal yang direkomendasikan adalah $55/bulan, dengan ekspansi bertahap setelah penyelesaian P0 dan validasi kinerja funnel.</a:t>
            </a:r>
          </a:p>
        </p:txBody>
      </p:sp>
    </p:spTree>
    <p:extLst>
      <p:ext uri="{BB962C8B-B14F-4D97-AF65-F5344CB8AC3E}">
        <p14:creationId xmlns:p14="http://schemas.microsoft.com/office/powerpoint/2010/main" val="106958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538C4C8-8EA6-4049-86AA-D1962320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OPERATING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55EED8-418C-4E7F-A05A-4C6FD1E9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BAE22-70F2-4E05-9C5F-9FCABD3F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5CAC5-7071-4B20-B219-D152DAA6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Enam tahap; follow-up bekerja sebagai loop lintas tahap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B6DF1-24A0-406E-963D-9E714604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AI menjalankan pekerjaan standar. Manusia masuk hanya saat scope custom, nilai tinggi, confidence rendah, atau negosiasi.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48C6B-27AC-4FE9-A659-37B6CD12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800225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B250B-F2B7-4C52-B879-7789857C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585C6A-D6BC-42B6-AB93-D9233FCF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1457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DATA KONSUMEN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033D6D-E4D5-4CAC-9F6E-08C2F588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145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Awareness + ICP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68187-647A-46FF-B679-7C227FFD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800350"/>
            <a:ext cx="76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8D912-7EF1-4E49-959A-D5A9C89E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095500"/>
            <a:ext cx="1800225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8F0874-A7EB-4710-8022-CA62E4B0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2479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3D9C4B-C27E-4214-BF73-A1E23B1E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686050"/>
            <a:ext cx="1457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PROSPECTING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50E5A2-D93E-4932-8ED4-05702234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200400"/>
            <a:ext cx="145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Assessment selesai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1DBA7C-5525-4EE0-9A91-D035BF3C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00350"/>
            <a:ext cx="76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9E5569-978E-4175-BB48-194EE984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1800225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A7F997-4307-4681-833F-51171D12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479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8260EE-ECFE-4DB2-809A-21DFFFF2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1457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02C68D-D078-4138-B3DB-3D519606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00400"/>
            <a:ext cx="145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Qualified opportunity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5659AC-86DE-4A96-B44F-4888F43E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00350"/>
            <a:ext cx="76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483841-E86F-4C77-A062-8A8A935D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95500"/>
            <a:ext cx="1800225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633C1E-4A9A-48A7-883F-C62BF395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479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6853AB-7C45-4259-A32E-78DBBFEB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86050"/>
            <a:ext cx="1457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PROPOSAL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AE6BB2-4E81-4A71-9F5A-4290CDC9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00400"/>
            <a:ext cx="145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Standard / custom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31EB9A-45ED-4C7E-BB46-43DF6AD0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00350"/>
            <a:ext cx="76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D837D9-71F2-4156-9AA7-34C669DF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95500"/>
            <a:ext cx="1800225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5DE880-0E5E-4D33-BFD9-13AAE427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479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E28038-6D6C-4F5F-9433-CDB271DE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86050"/>
            <a:ext cx="1457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7EBD3B-E3F2-4623-BCEB-AD53B26F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00400"/>
            <a:ext cx="145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Won + delivery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3CBD9C-B0C6-4EEE-BE05-972C5BE3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800350"/>
            <a:ext cx="76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3CE113-5918-42CD-9B53-B4C720D3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095500"/>
            <a:ext cx="1800225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1624C1-FFD8-4FE4-8EE8-5F41EC66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2479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861CC2-F5AC-4DA5-9A27-43FA4384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686050"/>
            <a:ext cx="1457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RETAIN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4552D1-88FE-44D7-84D1-492B8C1B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200400"/>
            <a:ext cx="145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Health + expansion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F99B77-2C65-4211-92F8-834E0537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9545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FF5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380039-1B2C-4B80-B206-EBB52287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0497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HUMAN GATE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981F1D-21A7-4785-AB72-51F050F7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9545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standard = otomatis · custom/high-value/low-confidence = persetujuan</a:t>
            </a:r>
          </a:p>
        </p:txBody>
      </p:sp>
      <p:cxnSp>
        <p:nvCxnSpPr>
          <p:cNvPr id="86" name=""/>
          <p:cNvCxnSpPr>
            <a:stCxn xmlns:a="http://schemas.openxmlformats.org/drawingml/2006/main" id="6" idx="2"/>
            <a:endCxn xmlns:a="http://schemas.openxmlformats.org/drawingml/2006/main" id="31" idx="2"/>
          </p:cNvCxnSpPr>
          <p:nvPr/>
        </p:nvCxnSpPr>
        <p:spPr>
          <a:xfrm xmlns:a="http://schemas.openxmlformats.org/drawingml/2006/main">
            <a:off x="1300163" y="3695700"/>
            <a:ext cx="9572625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0B2C6B"/>
            </a:solidFill>
            <a:prstDash val="solid"/>
            <a:head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038780-7AB6-4FCF-8CCB-61821FC6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FOLLOW-UP LOOP: setelah assessment, proposal, atau meeting; berhenti saat reply, booking, won/lost, atau unsubscribe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5ED7F3-054C-4962-AF2E-4CC28AFA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35623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643D58-BAB6-4DED-AE69-9B39F5AC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720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Mesin penggerak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4C1302-E3CF-4784-B370-D0261743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72100"/>
            <a:ext cx="318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Event + state machine + audit log; bukan sekadar cron dan rangkaian if/else.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F10A17-B74B-46AE-90ED-012249EF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762500"/>
            <a:ext cx="35623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78F27B-6B9B-4571-9E8F-908AA596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720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Batas AI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6F51EE-43D0-47C4-9C15-45ACCB1F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372100"/>
            <a:ext cx="318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AI mengklasifikasi, menulis, dan meringkas. Harga, diskon, dan transisi status ditentukan rules.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913D5A-C192-4452-A098-4460CD53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62500"/>
            <a:ext cx="35623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0D66587-FFA5-4437-8EC2-F166C04C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720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Sumber kebenaran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3928A1-9061-4505-AE69-94B9EAA6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72100"/>
            <a:ext cx="318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Organization + contact history + opportunity + engagement + activity timeline.</a:t>
            </a:r>
          </a:p>
        </p:txBody>
      </p:sp>
    </p:spTree>
    <p:extLst>
      <p:ext uri="{BB962C8B-B14F-4D97-AF65-F5344CB8AC3E}">
        <p14:creationId xmlns:p14="http://schemas.microsoft.com/office/powerpoint/2010/main" val="5266902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F82B55-59AA-48FC-82FF-F29E0B77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TAHAP 1 · AWARENESS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8A695-11F4-4ACB-8832-62C32D7F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88C713-A024-4347-BBE5-884D10DD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22E4A-EF5D-402C-8271-C3A93737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Data Konsumen: traffic yang dapat ditelusuri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837CF-CE0D-492F-A91D-F0CCB163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Tujuan: membangun audience ICP-fit—bukan sekadar daftar email—dan mengarahkannya ke BinaInsight dengan consent, attribution, dan deliverability yang terjaga.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9AFEBC-5DD3-4282-B8A3-656E961B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FFF8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92684-51B0-40EE-B268-A33A1A6D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906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SEBAGIAN SIAP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F3B9D-CF40-4676-8DE0-D2FED65D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71625"/>
            <a:ext cx="584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Landing `/insight` dan contact path ada; acquisition data pipeline dan attribution belum ada.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5A344-9AE1-42AA-BE93-4D0E8F21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EBC7B-6039-4171-A310-7DE95EF5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698D8C-2513-43A7-ADBD-FFDB6103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Ads / referral / Apollo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79B9E-EE17-43F1-847C-6E76BF82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313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F6CAD6-C824-4248-BB2D-4E8C5C81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3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B46020-CF54-4DC8-BFF1-B6B22849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3E70F2-9490-4BCB-9DFE-1E472C15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Consent · dedupe · enrich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318655-0E73-4647-A3EE-5C9F5C0D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BA2B69-24D4-472B-879C-E354CD0D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7329E2-5112-4781-9012-B71B241B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3B7ECA-86BD-46D7-9031-D5BF702C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Personalized outreach + UTM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DF427D-E5E4-44D1-80F1-88984FEB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438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E900A7-6AD6-4A64-894B-AD99732E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DC8EE5-0FB2-4B9B-8E46-FFCC0FF5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510533-7B27-4A5E-8287-96BC7A4F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Landing BinaInsight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40D5A2-E52D-414A-BCD5-A214D220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EDF4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7BE6FC-FDA9-43B7-A956-CCEA582F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AI agent mengerjakan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AFA33D-FBDD-4F6C-9611-E2C4CF51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Segmentasi industri, ukuran, peran, dan pain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Riset akun + personalisasi pesan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Deduplikasi dan suppression check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Optimasi audience dari conversion signal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2E7A0D-F232-47A8-8D92-89D63D66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FF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5C7D23-7D42-4251-9E52-27F7051F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Sentuhan manusia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9AEF8E-8E0F-467E-ACFE-94CF8B10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Menentukan ICP dan exclusion list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Menyetujui claims iklan dan email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Menjaga etika penggunaan data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Review deliverability dan kualitas lead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F18255-E433-4E7F-B3D4-CB65EDAB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81150"/>
            <a:ext cx="39052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BFAB93-0BB0-4A70-9555-7D8958F8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90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Stack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16EDB0-48E7-4E15-A204-2218A927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Google/Meta Ads · Apollo · website-prod · UTM · Resend · Supabase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318F78-0AEC-4A4D-919C-9663FB9B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3905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757BA5-25A9-43B8-945E-FC93E200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Yang belum siap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3AAFC4-8CE4-48BF-A635-B6AF85C7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0520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Attribution events, consent/suppression, enrichment worker, domain warm-up, dan policy penggunaan data.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5D7B6B-6601-4173-B5C3-4416BAFC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05300"/>
            <a:ext cx="3905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2783FF-33A9-42BE-B4E3-4619AF9D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KPI tahap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EEA02B-3B00-403C-9619-B8747478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149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Qualified visit rate · assessment-start rate · cost per completed assessment · bounce/spam rate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39263C-2744-40FB-90CF-4811974E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Kebijakan utama: akuisisi data menggunakan jalur resmi, izin yang sesuai, dan standar perlindungan data yang jelas.</a:t>
            </a:r>
          </a:p>
        </p:txBody>
      </p:sp>
    </p:spTree>
    <p:extLst>
      <p:ext uri="{BB962C8B-B14F-4D97-AF65-F5344CB8AC3E}">
        <p14:creationId xmlns:p14="http://schemas.microsoft.com/office/powerpoint/2010/main" val="10840444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37AA95-EFEE-4816-A3CF-1284365A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TAHAP 2 · PROSPECTING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80167-6ECB-4D31-AF32-33B5E22F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B5700-25F7-49F8-9CCF-ECD6ED68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AC6B7-220A-4565-B8B2-422F52A4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Prospecting: assessment gratis menjadi intent signal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ED6EC-7293-41AB-8D9F-134103D5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Tujuan: mengubah pengunjung anonim menjadi prospect yang telah memberi data, konteks kebutuhan, dan izin untuk ditindaklanjuti.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CB076-56AB-44C1-9E28-CEF3BF4C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FFF8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3EBBE-EFE1-432E-8EAD-3EB4B454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906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SIAP + GAP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AB1DD-4A1D-4599-BDEF-38F0A7A9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71625"/>
            <a:ext cx="584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Assessment publik, scoring, PDF, email, dan proposal request sudah ada; configurator harga belum ada.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5C183-552B-4958-A728-E9058952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235917-0677-4F1B-A9EA-7212AAF9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9CC9AD-8C87-46A5-8183-BB01093E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Mulai tanpa login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728DA4-5161-4230-A797-8794DDCE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313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F28CF-F29D-4602-AE8E-4CCAE293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3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A1954C-7B63-4DF4-8DBB-5BC6EAF7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947EF6-AB10-4BC5-B986-DE390D3D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Data + jawaban + UTM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7CC66F-BA2D-4728-A1A7-BD708273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52A613-0C89-4915-B027-CED3C31F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DBF3D6-4C1C-4672-AFBA-4C8D9538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A1A556-F60B-4684-BCBE-F8C897D2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Score · PDF · email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8872A0-5264-475B-ACFE-30854969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438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1886EF-BD52-48D8-8758-4EBD7BAB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943878-AB3E-45F6-878A-0CE66602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23E446-CCCD-4B5F-919E-F04AEC31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Proposal / konsultasi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86E4E1-5442-4D6B-B196-648B4E28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EDF4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D233B2-A1B7-4292-8D40-F14E68FB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AI agent mengerjakan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0B5929-4DA2-40CC-8D6E-FD365FDE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Analisis hasil 7 dimensi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Ringkasan, risiko, dan rekomendasi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Lead temperature awal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Rekomendasi modul berdasarkan kebutuhan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6100DB-14D9-485A-9CFF-619F694E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FF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35CB52-1CE0-4846-9EF8-DAD4AED0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Sentuhan manusia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D36825-72CC-485B-81D5-34D5020D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Tidak perlu untuk kasus standar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Review jika confidence rendah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Validasi kebutuhan custom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Menjaga katalog modul dan narasi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C55436-E817-4F31-A35A-304030B5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81150"/>
            <a:ext cx="39052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8C9E55-5DE9-4453-8C4D-8C4A8AC0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90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Stack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345B-F210-4F36-8D6B-F4793233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website-prod + app-binahub · binahub-api · Supabase · OpenRouter · Resend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E4E8C8-E6AD-487E-9181-F3BC0428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3905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8D9E33-79AC-41E0-9BC1-85994FF1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Yang belum siap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7D08B7-48FF-4B82-A836-C0CE1333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0520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Capture UTM/source, proposal configurator, price catalog/version, deterministic pricing, dan Calendly CTA terintegrasi.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BE5495-C47D-4AAA-8C36-851DCC51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05300"/>
            <a:ext cx="3905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50FEA4-6226-48C0-9A29-5B8B7CC7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KPI tahap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538345-6B58-4D51-9F6E-FB07C7F5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149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Completion rate · valid-contact rate · report delivery rate · proposal-request rate · booking rate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3F91B6-F9BD-4622-9D1D-90D92311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Tata kelola: AI merekomendasikan paket, sementara harga dan diskon ditetapkan oleh rule engine yang disetujui bisnis.</a:t>
            </a:r>
          </a:p>
        </p:txBody>
      </p:sp>
    </p:spTree>
    <p:extLst>
      <p:ext uri="{BB962C8B-B14F-4D97-AF65-F5344CB8AC3E}">
        <p14:creationId xmlns:p14="http://schemas.microsoft.com/office/powerpoint/2010/main" val="2203954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6729B9-DC34-4798-BA34-F8E7C4B1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TAHAP 3 · LEAD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00543-B929-4191-B636-195819FF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2CCB8-107C-4044-9F26-3EC71285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D7735D-229A-4D04-B528-11CA2A7B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Lead: otomatis untuk standar, human gate untuk custom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FB729-5794-4CB4-933A-D7F7C619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Tujuan: memprioritaskan peluang serius tanpa membuat CEO menjadi bottleneck untuk seluruh proposal dan konsultasi.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55CA3A-425E-471A-8760-4D96739E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FFF8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E9913-61B4-4601-8FC1-5913B225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906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PERLU REDESAIN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0A640B-F5F4-4600-A4F7-1815ADDA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71625"/>
            <a:ext cx="584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AI hot/warm/cold ada, tetapi bercampur dengan lifecycle status dan belum menjadi routing engine.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F3DC7-ADEF-4409-8A4D-DAE0D119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13E7A-A770-414B-99BB-C98F9736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A4AC3C-5077-493D-B143-EBB90AE8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Score fit + intent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4C0A38-694A-4868-9424-6B4D54CC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313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182EB-3E1C-4343-A40D-046DC25C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3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3D8FF-F2C8-4D9A-922B-AB786926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0E8B90-0776-4046-995A-D5114D13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Route cold / warm / hot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F6FD1F-DE05-4900-874E-BB9256F7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0F3F43-D47F-4925-A0C6-786802FE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E0A8A5-36C0-4FFF-B3A1-5AC6DB37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A0254E-B9C8-433B-8C52-879CB9C5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Standard vs custom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85804C-3623-4DB4-BD65-9B96FFB6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438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A1B790-3473-4B62-8BDF-056885E3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B341DB-9157-4955-8F07-E34738B3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C31FAD-7124-4BF4-8EEB-ED417A65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Proposal + Calendly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9F1011-EB88-459B-8FC0-48746947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EDF4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E7A99A-791D-402F-885D-01CB95A8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AI agent mengerjakan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7FD859-92F2-4380-A9ED-4D4DD74E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Skor fit, intent, urgency, engagement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Susun brief konsultasi + standard proposal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Sarankan next-best action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Buat reminder dan ringkasan meeting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3BF869-DC37-4C99-B3E4-ACC8D844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FF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DF3B47-F283-4345-A379-69AA853E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Sentuhan manusia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ED4E0E-98AE-4E93-B19E-F2F56755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Custom scope atau diskon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High-value / reputational risk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Confidence rendah / data konflik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Negosiasi dan keputusan komersial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5EE976-9F68-4055-8162-823FDE13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81150"/>
            <a:ext cx="39052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6F3F0C-E4E6-44F8-B6D8-0CAED09C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90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Stack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175474-14F8-47AB-94B7-786939B3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Lifecycle state machine · OpenRouter · deterministic rules · Supabase Queue/Cron · Calendly webhooks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35A8A8-3B57-4384-A91C-A69F457D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3905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AB44A7-1583-405E-896D-1A30104F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Yang belum siap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AA2E31-80E4-4A83-911A-8CF0DE87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0520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Pisahkan lifecycle_stage, lead_temperature, dan opportunity_stage; thresholds; pricing guardrails; meeting webhook.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0FFAB9-CC58-45ED-B65A-1A10D148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05300"/>
            <a:ext cx="3905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0FE543-247E-489D-B8CE-0ADC496E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KPI tahap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13A1E0-01FC-48E4-86C0-F15AC6CB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149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Speed-to-lead · acceptance rate · meeting show rate · proposal cycle time · win rate by temperature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132BC9-9BB5-4311-8FB1-EFCEB294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Usulan klasifikasi awal: Hot ≥75 · Warm 50–74 · Cold &lt;50, untuk dikalibrasi berdasarkan outcome 90 hari pertama.</a:t>
            </a:r>
          </a:p>
        </p:txBody>
      </p:sp>
    </p:spTree>
    <p:extLst>
      <p:ext uri="{BB962C8B-B14F-4D97-AF65-F5344CB8AC3E}">
        <p14:creationId xmlns:p14="http://schemas.microsoft.com/office/powerpoint/2010/main" val="15768002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3627C8-1B56-4C57-A61F-4F519419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TAHAP 4 · FOLLOW-UP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ADBE3-D79B-435C-B00A-34822CE0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FBAAA-9CCF-471B-9D07-CC47D228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C1D13-102F-448B-8732-43E1BB11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Follow-up: dipicu aktivitas terakhir, berhenti saat ada sinyal nyata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6B084C-6618-4ED7-AB3E-392E2B76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Tujuan: menyelamatkan peluang yang diam tanpa spam, pengiriman ganda, atau pesan yang terus berjalan setelah meeting/deal.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08EEB-CFF8-4082-9860-A18C4369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FFF8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0568A-226F-4965-B107-261B5062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906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FONDASI 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87D74-6C49-43DF-A08D-BFB49938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71625"/>
            <a:ext cx="584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H+2/H+7/H+14, pause, claim/dedupe, dan Resend ID sudah ada; event feedback belum lengkap.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BF34E-2FB3-43B1-920A-D9976E1D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FD092-933F-47E2-BA2A-E96D0D3B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E5102-5F29-4F8E-9850-F1951C7C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Anchor activity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9CB58F-0333-4475-AAA4-9B2036E9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313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5D1598-EBFD-4934-8625-20736FB6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3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26D86E-CBBF-4C2A-8A62-2257D194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F580FC-1956-428B-B684-7BE8306C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Wait H+2 / 7 / 14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ECB253-329E-4E8C-BDA3-3A87EF17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0E6246-6F43-48E2-8332-5F75F920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043AD1-4080-4E70-8EA2-91533BE4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66E216-C548-4389-B600-6CB81448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Generate + send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CEF276-64F7-48B2-B6E1-BFEA8E46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438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CBEC5D-3AF7-428A-A291-21364A6A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0727C9-D78A-4BA6-A2A8-44485746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45C501-57C3-4757-9888-3D07B4E5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Observe reply / booking / stop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266586-929A-4014-8D30-E949C710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EDF4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A88124-8FAC-46D1-9B60-5E1E5BAD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AI agent mengerjakan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25CF8D-0106-4BBB-AFDC-8228A2ED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Menulis pesan sesuai konteks &amp; tahap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Memilih intent follow-up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Merangkum history untuk sales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Mengusulkan kanal berikutnya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A4711A-95BB-4B9E-91EB-9F6C98FF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FF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85B3B9-17F4-421C-8830-BA7DBE6A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Sentuhan manusia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43D328-53CE-4464-B0DE-4D4569AF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Ambil alih bila prospect membalas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Review custom objection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Pause untuk hubungan sensitif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Konfirmasi lost / closed reason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1B392E-2D18-4F9B-BBA9-65C7D6F6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81150"/>
            <a:ext cx="39052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9BEBF3-33D8-4F66-BCED-2F88A36E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90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Stack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7417A-B491-4DCC-812E-42AC0475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Supabase Cron + Queues · Resend webhooks · activity timeline · Calendly events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CF3875-5A37-4771-8F62-40D9906B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3905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F96D84-9C25-48AF-843E-328B4C29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Yang belum siap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385E08-7645-4253-B622-28E77455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0520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Inbound reply state, unsubscribe route, suppression list, last_meaningful_activity_at, scheduler production, dan retry/backoff.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A9B5BA-9AC2-4F48-8857-F3348FCD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05300"/>
            <a:ext cx="3905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9761D2-5873-410F-A7FB-75A04279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KPI tahap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070D15-EDA2-4619-A005-2A83E492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149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Reply rate · booking-after-follow-up · unsubscribe/spam rate · duplicate-send rate · recovered pipeline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C1571A-B83E-4477-8FFF-59D36A99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Kriteria penghentian otomatis: reply, meeting booked, revision, won, lost, closed, atau suppressed.</a:t>
            </a:r>
          </a:p>
        </p:txBody>
      </p:sp>
    </p:spTree>
    <p:extLst>
      <p:ext uri="{BB962C8B-B14F-4D97-AF65-F5344CB8AC3E}">
        <p14:creationId xmlns:p14="http://schemas.microsoft.com/office/powerpoint/2010/main" val="16995236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5E2ED5-A8B1-46E1-88DD-E802E1B9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TAHAP 5 · CLIENT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9D08A-A6B1-42E8-89E1-2D94FE05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E81A8-5726-4A35-8340-B400B0CD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7CE84-06BD-49B6-BAE6-D688225C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Client: handoff komersial langsung menjadi delivery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2AF65-9B46-4033-B7AA-2AF174D7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Tujuan: begitu deal, data tidak diketik ulang dan project langsung memiliki owner, scope, milestone, participant, serta modul yang benar.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D9B7C7-7383-49BF-8AEF-D9F483E6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9525">
            <a:solidFill>
              <a:srgbClr val="FEF3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ACF23-EA41-4F31-84D3-5C65B8E3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906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KUAT, TERBLOKIR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8D5A3-1964-4406-8B67-999D332E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71625"/>
            <a:ext cx="584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Engagement/program/modules dan Project Autopilot ada; sebagian schema Autopilot tidak direproduksi oleh migrations repo.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AC5C8-26B0-41F7-B5C5-AEF9CCFA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8B3D2-A9E3-47FE-B5FA-DCF9BF10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40F21-A2AE-4E3B-BD00-A35C10DB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Won opportunity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F46989-EEDC-416B-AFAB-1714C946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313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7A9AC1-CB43-41DE-81AA-6DE2F9B2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3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37F111-F121-4ED8-BA54-365F89DB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A3787-54C7-4920-8ECD-4BC049AE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Organization + contact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57056D-3650-42C3-8838-C92A1A6F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ABB490-72B3-41A5-AE43-FBF01266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0C0B6C-820F-46D1-9D52-3FAC3E73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C5525C-BF18-4D67-BD0E-8D00CD99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Engagement + program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0B2F73-C24D-4901-9E02-23CCAEF7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438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BBD537-83BC-4294-91FA-B4A4F5D6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8D68D2-15BA-4B1E-B460-D2EBB2B1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FE55D7-3651-4C93-8ED7-661143A1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Project + delivery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CE40EF-6C7B-4450-B39D-21605FA4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EDF4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19EA3D-90B8-4D76-90E4-F563FBCB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AI agent mengerjakan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E1148F-82F6-43F6-80AE-545DD20A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Draft plan, roles, milestones, dan dokumen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Cocokkan facilitator/coach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Buat kickoff brief dan risk flags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Ringkas evidence dan progress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00C764-8406-466D-8D51-16D999BB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FF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35C426-6B10-4B6A-BB63-0605744C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Sentuhan manusia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BAE236-1AA7-4C89-BF44-1B456D89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CEO menyetujui SOW/custom scope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PM menerima AI plan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Admin mengonfirmasi resource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Facilitator mengubah draft menjadi delivery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CB48B1-AB4C-4F74-BCAC-C04BAF74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81150"/>
            <a:ext cx="39052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71B858-FC21-4BD0-95FC-D92435F2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90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Stack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8E95B2-71CD-4E8A-A40D-4A8E7D28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app-binahub admin/client · binahub-api · Supabase · Project Autopilot · TBOS/LEP/BinaInsight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1957E5-D8B7-4BDF-B0E9-856C3BED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3905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9525">
            <a:solidFill>
              <a:srgbClr val="FEF3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0B4032-8A1B-4FB4-83D7-2C5361ED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Yang belum siap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E5373A-A1F6-424F-A744-6041D4F5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0520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Schema drift: project_roles, generated_documents, communications, automation_events dan beberapa kolom tidak ada di migrations.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0FA594-3874-4930-9338-617F93F2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05300"/>
            <a:ext cx="3905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593AC0-6BD4-4ED2-B5D6-D3DA8EC8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KPI tahap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9163D5-3DCA-47D8-8603-BB9339AA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149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Won-to-kickoff time · project setup error · milestone on-time rate · participant activation · margin variance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B35AC9-CD01-4DA0-95E9-82F2B844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Prioritas P0 adalah memastikan schema Automation Center stabil dan reproducible sebelum peningkatan volume sales.</a:t>
            </a:r>
          </a:p>
        </p:txBody>
      </p:sp>
    </p:spTree>
    <p:extLst>
      <p:ext uri="{BB962C8B-B14F-4D97-AF65-F5344CB8AC3E}">
        <p14:creationId xmlns:p14="http://schemas.microsoft.com/office/powerpoint/2010/main" val="2857372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8A95C6-CB2B-4AEE-B462-EC2D5032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TAHAP 6 · RETAIN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52E62-B59C-47AF-A069-39FE4E63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2BA51-B39A-48D2-82E8-1B2A01A0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F73E2D-D890-4392-A37F-9BB3F752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Retain: health, relationship, dan next opportunity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3B67B-FE38-43CE-92C7-B0DDB304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Tujuan: menjaga value setelah delivery, mendeteksi perubahan HRD/PIC, dan membuka repeat order tanpa kehilangan konteks hubungan.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114D85-CF06-4333-A170-45CB9C53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3D666-C1B8-4666-81AD-0A0AD029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906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BELUM 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E5C39-8B6C-4BB4-BAE3-9E083AE8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71625"/>
            <a:ext cx="584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Evidence, outcome, dan engagement tersedia sebagai fondasi; account-health dan playbook retain belum menjadi workflow.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F2BA7-6811-49C5-8014-77904662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E5462A-1312-4927-8C67-3B655C04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CA9A40-2A83-4DB7-809E-3322CA1D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Delivery signals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A5434F-C962-4297-B49A-058D1CAE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313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A472C5-F800-4714-9A5C-3D88A4BF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3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11C131-E6F9-46BD-9572-BC24077E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34A1DE-24E2-4581-879A-54E275F1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Health + sponsor map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6F880D-9239-4A23-9B36-AC770C36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4E231-FF35-4B63-956D-9787FEB6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B972D3-1EEB-4F09-92C0-70AEBAD0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0613B8-114E-4213-BC02-AB492C08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Quarterly value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EE1361-6B0E-4B0D-A0D7-8FFC1B70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438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F990EC-5DFF-4E56-914A-A81C8CCB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5691F3-4BC7-4973-B841-E9980836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A096AF-28BC-41D0-A1E8-08FEF321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Repeat opportunity →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BEB93C-B848-4B41-AD2A-5FBAE550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EDF4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7E89EB-D359-450E-ADF8-F7F6F440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AI agent mengerjakan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78A32D-93F4-4E1F-A432-89D68CA5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Health score dan churn/renewal signal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Ringkas outcome dan value delivered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Deteksi contact/PIC yang perlu diverifikasi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Sarankan next module dan timing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56379B-3042-41AE-A877-75840F65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FF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B9E545-C673-496C-9EF7-835A86A3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Sentuhan manusia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E684D5-84B0-49B2-A389-C453BB6B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Executive relationship dan QBR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Validasi perubahan HRD/PIC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Menyetujui case study/referral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Membuka opportunity baru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1A12C8-F1E6-49F6-9C6A-5BEBCB6D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81150"/>
            <a:ext cx="39052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FEE8D4-1787-44D2-906D-68D1D884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90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Stack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A0216C-6D5F-4374-8308-98FA9E3C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Organization/contact history · activity timeline · BinaImpact/outcomes · NPS · workflow engine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BB799E-659E-4E65-8C60-F0783102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3905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C18201-E40C-45CF-8F28-A07879A6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Yang belum siap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CE38E3-2003-4CF5-B7C4-5140DB77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0520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Contact-role history, health model, QBR template, renewal/referral playbook, repeat opportunity, dan data freshness job.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854FAC-73F8-4317-ACCE-1105F063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05300"/>
            <a:ext cx="3905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C352B8-16B9-4CA7-9F8C-F9EF4ED5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KPI tahap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B62083-DEE3-4F37-A8C0-0BAA66F8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149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Account health · renewal/repeat revenue · sponsor coverage · NPS · referral rate · contact freshness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36CDEC-0933-4A33-8BA4-8D1C8429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Model data: contact tidak ditimpa; simpan peran, effective_from/effective_to, dan sumber verifikasi.</a:t>
            </a:r>
          </a:p>
        </p:txBody>
      </p:sp>
    </p:spTree>
    <p:extLst>
      <p:ext uri="{BB962C8B-B14F-4D97-AF65-F5344CB8AC3E}">
        <p14:creationId xmlns:p14="http://schemas.microsoft.com/office/powerpoint/2010/main" val="11106269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4BBA8DB-BF71-4269-B04E-B2412B0A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TARGET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95DC7-35F8-47C8-A653-D388F297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06F02-0CA6-440C-A1EE-658087E2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EE8E5-9E72-4942-A6B5-83C6099A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Stack target: core sederhana, tool tambahan harus punya alasan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064CC-386E-49C9-9A48-3D2859C3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Supabase menjadi system of record sekaligus orchestration awal; Trigger.dev baru dipertimbangkan bila workflow benar-benar kompleks.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9D3D45-B95B-4E01-813F-5DBD57A6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383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CHANNELS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66EAF-2EBC-4A6A-834A-B70363CE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7C8F7-25FE-4E88-853E-DF152CDE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765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AB8330-1CDD-4C0A-A738-55950664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765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AFD99F-B334-4008-97B0-D04D335C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147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CONTROL PLANE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408DB6-5FF3-4E11-96F5-29DAB899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45834E-F7C1-4E3D-8259-AC1A38EB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SPECIALISTS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6F1141-30CD-4550-A92C-399B2004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14D418-0DBA-45C6-B396-936ADDB7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DATA + 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B4A6EE-D616-49F5-834E-B7008A28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911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29C7A7-FD79-46FB-BEB6-9A1857D5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619250"/>
            <a:ext cx="179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0D98C7-2CED-4E42-A8E6-4686B087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714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Google / Meta Ads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F2E6C-6C9A-4FDA-91BE-E574DE11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431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paid acquisition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532312-0E5E-4BF9-B99F-672B2CC5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619250"/>
            <a:ext cx="179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BAED69-B5D3-46BB-BB29-417EE26E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714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Apollo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8D62B3-4995-4516-AFA3-F21B4194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431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authorized prospecting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B5A28F-71F0-409E-B2C2-B2EF5949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619250"/>
            <a:ext cx="179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6CBF08-2243-473C-9CAD-FC0E6B57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14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Referral / Owned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7EE297-1324-4279-A812-9E81970E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9431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organic &amp; partners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4F59E4-0E9E-4327-84F6-A0B98F85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19250"/>
            <a:ext cx="179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84D81E-A8B4-411F-B562-EF33F2C4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14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Email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4D3913-8196-4E25-9937-5BC81503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431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outbound / nurture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DC4F2E-F040-4B54-B6D6-D3EB019F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619250"/>
            <a:ext cx="179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BE4540-16FD-440D-942B-F3A2683E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14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Calendly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34250A-4B8F-453A-B0DD-940C464E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431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consultation booking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431C2B-FF0C-4A2A-A6B7-90963A38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57450"/>
            <a:ext cx="2857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874B7C-D585-40F8-A719-06F229C6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5527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website-prod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0AE17C-EA29-4231-8254-DEDD9E2C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81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company profile · /insight · contact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CFDA2B-E18D-4D16-AB58-BFB4B462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57450"/>
            <a:ext cx="2857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03E19A-180E-4DFC-9300-EFFB0AED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527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app-binahub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DD188C-3E14-4BD2-8111-8B3A9706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81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admin · client · program · delivery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F35DED-C0D1-412B-9AE8-0D4DACF0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57450"/>
            <a:ext cx="35052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B1AFC2-F66C-46A7-B933-5FB25170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52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BinaInsight public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3C2171-EDD5-48D1-BF17-9920BA55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81300"/>
            <a:ext cx="327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no authentication · PDF + email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289DA6-0389-4715-BE72-9A431466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95650"/>
            <a:ext cx="2857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73F455-D796-4D18-AEC5-357B349E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3909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binahub-api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43F925-6061-4251-8059-37AB7655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195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validation · business APIs · webhooks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10F822-3AF1-49AE-B9F7-28C3ABD0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95650"/>
            <a:ext cx="2857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2A889B-9A88-4A00-BF61-F3C8A6EF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909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Lifecycle State Machine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5C369A-FEFE-43E8-BD2C-A3FFD6C5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195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stage · temperature · opportunity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EF83AF-A54B-4FBF-8451-797382A4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95650"/>
            <a:ext cx="35052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AB7ABB5-C3BE-4F9E-9069-82865393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909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Supabase Cron + Queues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FF3EDB-BFE0-4D82-804F-5F9A944A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19500"/>
            <a:ext cx="327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schedule · queue · retry baseline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79BB021-449B-4F35-8D4F-1E21E7E6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33850"/>
            <a:ext cx="179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EE1869F-7AC2-4B8A-BBA7-C4341A8A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229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Lead Scorer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F0AB92D-FF45-481D-87F9-AFF9AA1C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577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fit + intent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C15F96-AFB4-4AE5-93AF-C42699D9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33850"/>
            <a:ext cx="179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3080D5E-99AD-46C2-8631-81EC0C74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29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Proposal Agent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2DFD3E2-8C07-4D07-8435-ADCBB627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577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draft + module fit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0EBF458-5690-4A36-B74C-686FE9C5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33850"/>
            <a:ext cx="179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1C2E0F1-6950-48AA-A909-6F98ACC5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29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Follow-up Agent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DCA329E-168E-492C-8C05-7346BEC3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577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contextual sequence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DC485E5-F184-4E9C-BB21-3A6E7C47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33850"/>
            <a:ext cx="179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BB516C1-32EF-47B4-9269-F9CF81C8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29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Meeting Agent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BD1B1DB-FEF6-48E7-BEBA-FF8B90F6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577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brief + recap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95F035C-EAEC-450B-B710-71804D90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33850"/>
            <a:ext cx="179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2868460-BC67-4CD7-89CA-3228E6F1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29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Retain Agent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E2AA71F-8A31-4EE4-970A-10F7E14E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4577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health + opportunity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E9B7652-CF02-422D-B783-0AC5EDAD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72050"/>
            <a:ext cx="2286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9DC16C0-9A23-49C0-8527-C09A36BB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0673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Supabase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9BA2A3A-B3F1-44AA-A410-BE455437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95900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Postgres · Storage · outbox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DA10C22-24D2-4D9A-A9E2-A73254FB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972050"/>
            <a:ext cx="2286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3A0193A-0B19-412E-8601-F507CB1B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673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OpenRouter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29BBA2F-ACE1-4E9A-9CD4-E3B52804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95900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models · spend controls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542D7B6-87CD-4364-A734-6AE649C0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72050"/>
            <a:ext cx="2286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41199DC-1F5D-4C79-8CDF-B0C10C57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673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Resend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0DA06F1-800D-47D2-8C80-82EB4DF8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295900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email · delivery events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30FAB32-1FE8-4054-BA64-921CB6D3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72050"/>
            <a:ext cx="2190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E60574D-3DA7-4306-86DC-1B714F44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06730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PostHog / Sentry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2F43B6E-CF82-49B1-AA7F-D7E389B4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29590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funnel / error monitoring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43EF3C4-3AAB-412E-9395-D3AD81A4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810250"/>
            <a:ext cx="956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Seluruh human gate dicatat sebagai task approval di dashboard untuk menjamin akuntabilitas keputusan.</a:t>
            </a:r>
          </a:p>
        </p:txBody>
      </p:sp>
    </p:spTree>
    <p:extLst>
      <p:ext uri="{BB962C8B-B14F-4D97-AF65-F5344CB8AC3E}">
        <p14:creationId xmlns:p14="http://schemas.microsoft.com/office/powerpoint/2010/main" val="19623056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FDA42CA-4613-47C0-81F1-2E05BD2B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REPOSITORY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1269A-C555-4296-A3D1-4314835C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4F41F-0E80-4F13-89C5-AD4E69B4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D244A-171E-4246-BCBC-57AABD72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Apa yang sudah siap—dan di repository mana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DE8DB-3349-41C4-AEFC-0A05FBEB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Status code-based per 24 Agustus 2026; deployment, production migrations, env, dan billing vendor perlu diverifikasi terpisah.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DCEE4E-3A2C-4012-9A32-EF8390D0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2B881-C9B5-4DCB-B9A9-0EE0F317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85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Capability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DA8EF-F939-40CA-829B-1FBEAECD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57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3129D2-A7F8-465B-952F-AADF9D82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685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website-prod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37547-AF7C-4D65-B183-177FA59F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573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5EE26A-C93C-4AEC-B63B-5046D2AA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85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app-binahub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DE220D-3F61-4BA7-971D-F867402A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57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0BF4D-2638-44B9-AFEA-8CDB9FF4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85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binahub-api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9987FE-311D-49A4-A8BD-EB9774D4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573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2E86B0-5BEB-4D1A-B8B9-40899B38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685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09D86B-EA54-4DC0-8A88-183711FF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173A72-1AA7-4BBC-A67E-9AD954D5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66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Company site + /insight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AB411-AA79-4E98-B7AF-F8F27507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38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0A17FA-1BA4-4F3D-AE39-2B345047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66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5C11BB-598E-4E7E-BF98-8D9E59EA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383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6E43E6-24F1-45A0-A081-20F12380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66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Mirror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AD31D8-8BD3-480B-99B9-28A7DE37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38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298C53-19F2-48BA-9B62-537F9C26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66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API target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B6648E-06AB-4B3A-8063-E8982A50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383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045425-8ABD-4A9F-B94D-20AC8A5C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066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1F0D2E-A38A-463B-B1B7-9E3FD407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19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1DB4A8-2A44-4C1F-AB79-5E096393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47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Public BinaInsight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4E7EF3-3379-452D-A593-95D707BD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19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CAAD2D-7100-4039-9553-FA21BD71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47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2BAAA9-B322-46AA-AEDE-6B6FCF7A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193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86BB9C-BA4B-49C0-88EC-BFB6ACA0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47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F3D6FE-521E-4C03-9CFD-B5EE111E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19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CC8FC0-F2C7-41AC-93A8-4CD61F50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47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Scoring + save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C44280-A300-4A71-BC64-625DB04D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193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5BF688-3D8B-4437-A056-55B7AB51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47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2C313C-8E0D-4E5F-AD15-8F847B34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7EFE2C-93EF-4E94-B223-FAA0D16E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28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Result PDF + email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57489D-EB9A-4BC7-9B53-DB228EBB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E9C706-EEC3-496D-A3E3-C95C259B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28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CTA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59CB50-E3FE-4F9A-83E6-DCD6B518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003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FA9389-1B24-4D45-B9E3-84F296EC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28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Result view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3F4E96-D5E2-4A36-A0F8-0EAEE433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00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51C07D-76DF-4F69-963E-2D1FAAFA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28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4-page PDF + Resend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0839E6-2C30-40E1-BE6A-D47327D1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8003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640F90-4283-4CBF-B198-FDE9EDC0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28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55D2AB-54E2-48F7-B8F2-81B199E9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EE5068-61D3-467B-8881-58D2E293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09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Admin assessment/follow-up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1BAE11-1C58-466D-95FF-DDDEAEFE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81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D6626B-1364-4FC0-B5D8-55E7A208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09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9B16985-E4DC-4A39-9102-8B5DA3B3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813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89D4C24-5C38-4E3D-903D-2E4CF386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09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B361714-0308-419C-BBE1-219B2172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81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0D697F4-4839-4F6E-9966-8A3AF2FD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09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H+2/7/14 + claims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69D5E28-AA9F-42A0-9ECC-974A6EDE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813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A0C5E02-7DAA-47EE-87D8-DC24A24D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09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48C00B6-C49A-49B3-A561-86FEEC5A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4DDDF79-7919-4BF8-B75E-77DEC143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90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BinaInsight as program module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D29985E-7FEE-45D2-905C-A374A6C0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62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46422AD-AD3D-406B-8544-F49B106C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90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325E5E0-4AA5-4F0A-8E58-840B7F99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623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C86D68C-6875-412A-BCC1-0D8361A2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90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Module UI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10F4B5B-2B24-4271-93C6-2D2E9E58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62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4A2C49F-BD0C-46C0-87D7-471149A2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90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Migration + linkage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0D32D51-87D0-4B54-9115-CDAF0240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5623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7350765-9B54-4D68-8F9B-A92F789D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590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E614EB4-F595-47EE-A849-0183E9DC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8DD972F-8DF1-40D3-A7D3-B15BFEED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71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Proposal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484741A-AA67-4DB4-A5F0-D054F6F1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43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2523507-6427-45B6-A1EA-8C6646BD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71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CTA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32665E4-1260-45E3-9B57-E24D6F6A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433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78053B9-8AAA-4CBD-938F-B7EB93F9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71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Admin flow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4A9A154-ADEF-45F7-A133-23691360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43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64CA1A6-065C-46FB-AB40-1257CEC7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71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Request + generated PDF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C104DCA-DA48-455B-8C75-3E3C5B03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9433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1B7C065-240F-4780-828B-8A220DE9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971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7357453-8BE5-45BE-9FA4-F1A03DDF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301E2AB-1BF6-45E7-A825-21C6054A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52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Project/engagement delivery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03603A0-4C13-4CC3-9F43-0B6393F3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24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C9FFDF1-D409-4EE3-868B-7C117530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52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95A995D-864A-42C2-BFB9-91F7B006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243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872644F-4510-4685-8A5F-DB5177AE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52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Admin + client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2082124-861F-4D7C-98D5-D1F18CFC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24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5825C9B-13C7-4F1A-880E-1FE427E9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52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Autopilot + services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814E0AD-3032-4434-86C6-9BEE835A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3243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3CBB375-2B56-432C-9370-28E0F333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352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BLOCKED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41DE1FC-4515-41A2-BE9C-9FE0D3AC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5B1DF5E-239B-4B50-997C-80F496A6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33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Attribution + analytics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071B060-885F-4811-998A-C160396A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705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8633209-5B7E-47CC-AC90-9BF189A3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733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Missing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C6F1058-C514-49DB-BE4D-25FAD04E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7053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BB5A1CA-81ED-42DE-931D-9081548C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733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Adapter only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E4ED267-D0BB-4733-B2F8-05E446F5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05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74E8886-0D44-482F-9260-A0F7982C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33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No GTM events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AACEECF-ABC7-40D1-A878-EC08584E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7053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BB92621-94FE-49EF-9B17-BAC1445F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733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NEW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13D2D0F-4230-4096-A90B-76EBCA15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86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3A108FB-9D41-4513-A384-DE59C772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14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Calendly automation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38689A9-20C1-44A4-967E-0C933686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086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20D39A2-4366-4F5C-A2BD-C0AC90DF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114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Missing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9F83142-3871-46E7-A733-18A83AB6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863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1F12E6A-A773-4A4E-B23A-6AA904ED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114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Missing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A775AA9-E2A6-41ED-A196-4F1D21EE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86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79A79D4-F377-47B7-B3D3-BB798DA5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14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Hard-coded link only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8DEF033-BE6D-47BF-B02F-A4CDC974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0863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87DA775-C0B6-48CD-81B6-4D5477E6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114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NEW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8A2FAD1-0EAE-4145-92D6-D6941BF6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3D32DB6-00DF-4D6A-96AC-616A2D61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95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Retain/account health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307FDD0-EF22-4119-9C99-776A22F5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67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A7F8F76-0C3C-4658-9B8D-C6DFCE39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495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759C593-7EAA-4CEF-A4B6-6095F574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4673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3AA1B23-CDD8-4879-BDB9-0900525A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495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Evidence foundation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157B22E-B741-4632-B289-1666DEF7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67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8054D8B-DBF1-48E5-AEAC-FC008F9C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495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No playbook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845885B-D2EE-4596-BADD-B4E780CC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4673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6718F7B-77AB-4CE6-8FB2-F432E22A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495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NEW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8C87C26-F368-42F2-8F70-C12A1514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6B76D11-5929-4BCC-B86C-CD543D7C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1139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Legenda: READY = usable foundation · PARTIAL = works but not end-to-end · BLOCKED = schema prevents reproducible deployment · NEW = belum dibangun</a:t>
            </a:r>
          </a:p>
        </p:txBody>
      </p:sp>
    </p:spTree>
    <p:extLst>
      <p:ext uri="{BB962C8B-B14F-4D97-AF65-F5344CB8AC3E}">
        <p14:creationId xmlns:p14="http://schemas.microsoft.com/office/powerpoint/2010/main" val="14848360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D9338D3-0D77-41A3-B9AC-0E4D9F73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P0 HARDENING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296E9-CB10-4C02-8C5C-0C80329F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7EE1B-2F42-4E58-B9D4-FA6DDECD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1BF09-3C5D-4515-9CE3-7CD54083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Tujuh risiko utama sebelum peningkatan volume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CF583D-4ACE-49CF-9611-3F83C2BA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Penyelesaian risiko P0 melindungi integritas data, reputasi komunikasi, dan keandalan funnel komersial.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6A493-3348-4D60-9EA2-A6EA6F27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5E3C6-B8D7-4FA3-A0B4-5DDA0F9E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62125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Prioritas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0140C-8633-4E35-B48D-488190DC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16CF1-8E10-4AF5-9425-67685EF8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76212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Temuan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ACA0D-0C2E-4096-A6B2-021B3746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33550"/>
            <a:ext cx="323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13323-DDDC-43EA-A0B8-121BDF7A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621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Dampak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C1B545-50B3-41F9-9F41-B9426464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33550"/>
            <a:ext cx="3962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5C71BA-116B-4B26-914C-0051278F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62125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Perbaikan minimum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A20621-7291-4E95-A759-5B582D40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1B197A-1151-4995-B7C9-1185A98F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E93E9C-EBEF-4069-B008-272485DF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098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3D9E20-28D3-4446-8FFC-729D4BE2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383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Schema Automation Center drift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B7AE3B-0DB2-4C28-94C9-F05C4E07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323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FDDCBE-62D1-4136-BB42-28F4946A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383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Autopilot gagal di clean deploy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E7C5D9-C86F-42A9-A618-17633E38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09800"/>
            <a:ext cx="3962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DF837E-A919-43BC-A5AB-B5A58B74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38375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Reconcile + migration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C7C19C-637E-4BB7-9186-4B18FCDF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695433-8F97-4950-B05C-9933B5BA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14625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1A7686-3BD8-4C83-A7F1-5683B002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860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385537-3ADB-4951-AC36-FB610EF0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1462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Contact insert error tetap success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1A8EF9-CC59-4F40-AC4C-E4BB516C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86050"/>
            <a:ext cx="323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52207D-EC4D-4481-B94B-7853B170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146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Lead hilang tanpa terlihat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DDA52F-E764-4386-AEFF-61D09711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86050"/>
            <a:ext cx="3962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77A6B0-9525-4BFF-BD5B-02F7A429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14625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Fail closed + outbox + alert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4CB176-7972-4AB4-8959-F2676416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4E636E-3568-4859-BF5F-B89D0952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90875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71923D-EEF6-41C8-BCFC-210B70B5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623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9B0B9E-330C-4F75-987C-56559A64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908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Chat menyimpan sessionId tanpa token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D93D55-417D-4237-AF63-E403B92D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62300"/>
            <a:ext cx="323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A6D8A0-5158-4BC6-8101-E34A96CA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908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Chat gagal setelah pesan pertama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75355E-8DFC-42A0-8F9F-BC12AA9C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3962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44E335-E504-4152-8D61-3BB86BD2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90875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Persist dan kirim sessionToken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D5B529-025D-40EC-A9B9-CF040702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9F09BE-AD78-43A7-880E-8AF644A4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67125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7AB50A-C9D5-437C-BC40-E944E9A5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385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A033DF-A38E-4CC4-A2A2-5766C3A1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6712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AI temperature bercampur status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EF2502-29EC-4CA3-854D-91A85221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38550"/>
            <a:ext cx="323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43B75D-360D-46D3-A20F-0D777FBA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671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Routing &amp; laporan tidak konsisten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CD6FC0-18C2-406A-942E-92FB1965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38550"/>
            <a:ext cx="3962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2EE4BC-282D-42C1-95E5-CE0EEDD4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67125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3 field lifecycle terpisah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142F01-514C-4A57-99FE-FE388DBB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1C4E29-7523-44E2-9B49-309C3120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43375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4C7556-02F8-4D7F-9A39-76307CC7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148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E555023-8F23-4D85-8B79-4164C8E5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433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Event queue claim tidak atomic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FE59FC8-1207-4132-A5D9-40D656F3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14800"/>
            <a:ext cx="323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01531D3-2D25-40EC-A07C-40DDD323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433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Double work / failed event mandek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4D505C4-107D-4125-B5A5-8FDE778A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14800"/>
            <a:ext cx="3962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12C40FB-C6FE-4550-B8F4-F843A029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43375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Atomic lease + retry/backoff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E4DA34A-9686-4B70-94D6-79B4B2C0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20B51AE-0818-4DC2-96F4-BDC1D61C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9625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520C23C-6090-459F-94F7-B058A7B3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910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EC2D701-D3E4-4F09-B12C-D4016F7B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962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No unsubscribe/suppression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B524D37-2CB0-41DF-92CC-868683E4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91050"/>
            <a:ext cx="323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FFAA547-E9C5-4AB0-81CA-6CFF58C0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196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Compliance + reputasi email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6D68762-B779-4C6D-B1D5-0495D25D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91050"/>
            <a:ext cx="3962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6ED9DAC-62F0-47CF-BC83-5A9B3837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19625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Unsubscribe route + webhook sync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0EF8D02-FB98-47FE-8488-E0131052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C1F7F71-242C-4F81-A731-5032F9F6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95875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P1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3808061-00FE-4B7F-BFB9-37EE5EFD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673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F0AD1AB-529A-43A3-A6F6-F5CC67C8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958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No attribution + cron proof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F587148-DCDE-495B-B6F3-F289EB10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67300"/>
            <a:ext cx="323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2B4D585-83CD-4CE5-9E22-B37DDB9B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958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CAC dan automation tak terukur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F94FC42-DDC3-4EB4-81A1-9735BBDA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067300"/>
            <a:ext cx="3962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9CDFC8A-9673-4B7B-BA5C-71080182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95875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GTM events + health checks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A19749E-3240-4872-8073-A62438E0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113919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FAC4FD4-B6C1-4E2A-A5B8-E1A62FFF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34050"/>
            <a:ext cx="11391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9525">
            <a:solidFill>
              <a:srgbClr val="FEF3F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0D2EB9C-F588-4115-8E96-279851F1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Kriteria kelulusan P0: alur lead→assessment→email→follow-up→proposal→client berjalan tanpa error atau intervensi data manual.</a:t>
            </a:r>
          </a:p>
        </p:txBody>
      </p:sp>
    </p:spTree>
    <p:extLst>
      <p:ext uri="{BB962C8B-B14F-4D97-AF65-F5344CB8AC3E}">
        <p14:creationId xmlns:p14="http://schemas.microsoft.com/office/powerpoint/2010/main" val="12946380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0882CF-3524-4CC8-A1CC-B4880E65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MONTHLY INVESTMENT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25871-6095-47E9-9A29-65C58368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F3015-5C07-446B-8EBC-D138DA08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ECD25-5E48-4E7B-96C1-1334A6C4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Investasi awal $55 dengan ekspansi berbasis kebutuhan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7107D-4227-4701-8444-F62E76F9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Harga resmi per 25 Agustus 2026. Konversi memakai JISDOR Rp17.703/USD; belum termasuk pajak, overage, AI, dan iklan.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A93D3-EC75-4A95-A368-33611553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562350" cy="3733800"/>
          </a:xfrm>
          <a:prstGeom xmlns:a="http://schemas.openxmlformats.org/drawingml/2006/main" prst="roundRect">
            <a:avLst>
              <a:gd name="adj" fmla="val 4278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BBE39D-A44F-4D10-9097-C2C13F2B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574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LEAN PRODUCTION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C217B-6C19-4392-93E3-5239F622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$55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F73A1C-099E-4168-A898-4B8649BA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44054"/>
                </a:solidFill>
                <a:latin typeface="Arial"/>
                <a:ea typeface="Arial"/>
                <a:cs typeface="Arial"/>
              </a:rPr>
              <a:t>±Rp0,97 jt/bulan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61848-087E-438C-B34F-E6CBCB45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291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6524DB-5708-43EB-A730-46A1F8E3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2762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Vercel Pro $20</a:t>
            </a:r>
          </a:p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Supabase Pro $25</a:t>
            </a:r>
          </a:p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Calendly Standard $10</a:t>
            </a:r>
          </a:p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Resend · PostHog · Sentry Free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D8B9C-EAE1-49EC-8693-B33CACE1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38750"/>
            <a:ext cx="1771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ECFD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65AE2B-B2BD-4D4E-B52A-436E324D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48275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REKOMENDASI MULAI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718862-9834-4705-92C2-4367ADE9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90700"/>
            <a:ext cx="3562350" cy="3733800"/>
          </a:xfrm>
          <a:prstGeom xmlns:a="http://schemas.openxmlformats.org/drawingml/2006/main" prst="roundRect">
            <a:avLst>
              <a:gd name="adj" fmla="val 4278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CCF612-3275-43EB-8BE0-42445BA7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0574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+ EMAIL PRO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0DE438-52A4-4EA6-BB4E-7407689B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495550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$75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8C1ECD-152B-4367-A012-21B8A785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1623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44054"/>
                </a:solidFill>
                <a:latin typeface="Arial"/>
                <a:ea typeface="Arial"/>
                <a:cs typeface="Arial"/>
              </a:rPr>
              <a:t>±Rp1,33 jt/bulan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3532EE-405E-4894-8850-5F3FC5D7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638550"/>
            <a:ext cx="291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474625-15AC-4235-A70D-D56A79C8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86200"/>
            <a:ext cx="2762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Semua Lean</a:t>
            </a:r>
          </a:p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+ Resend Pro $20</a:t>
            </a:r>
          </a:p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50.000 email/bulan</a:t>
            </a:r>
          </a:p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Tanpa batas harian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8195F9-69CE-4C5A-984E-DE657AFB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90700"/>
            <a:ext cx="3562350" cy="3733800"/>
          </a:xfrm>
          <a:prstGeom xmlns:a="http://schemas.openxmlformats.org/drawingml/2006/main" prst="roundRect">
            <a:avLst>
              <a:gd name="adj" fmla="val 4278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AE5108-E2AA-48C1-863F-B6C6E58D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574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+ APOLLO MONTHLY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D337EB-7878-4564-8845-22D343CA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95550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$140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470BD8-78BF-4F09-B956-D8231CA6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623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44054"/>
                </a:solidFill>
                <a:latin typeface="Arial"/>
                <a:ea typeface="Arial"/>
                <a:cs typeface="Arial"/>
              </a:rPr>
              <a:t>±Rp2,48 jt/bulan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CC5987-2410-415F-94FA-EC605749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38550"/>
            <a:ext cx="291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9A6419-57CA-44A7-B030-ECC1DD0F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86200"/>
            <a:ext cx="2762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Semua Email Pro</a:t>
            </a:r>
          </a:p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+ Apollo Basic $65/seat</a:t>
            </a:r>
          </a:p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Trigger.dev belum dibeli</a:t>
            </a:r>
          </a:p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AI tetap usage-based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114A56-35A8-4267-A271-FA900E58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AI/OpenRouter dan media iklan dikelola sebagai anggaran variabel dengan batas biaya terpisah dari langganan SaaS tetap.</a:t>
            </a:r>
          </a:p>
        </p:txBody>
      </p:sp>
    </p:spTree>
    <p:extLst>
      <p:ext uri="{BB962C8B-B14F-4D97-AF65-F5344CB8AC3E}">
        <p14:creationId xmlns:p14="http://schemas.microsoft.com/office/powerpoint/2010/main" val="8233687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4325CEC-2709-4DDF-8E7D-B1D934D2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SUBSCRIPTION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7A003-C0BC-483E-AD30-68777770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D6E2E-BD2D-40A8-ABB7-814CF43E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88081-F186-4EA9-A88F-B0861A0C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Apa yang perlu dibayar setiap bulan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6838B-2DE5-46C0-A731-8CBB2FAB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Pisahkan: wajib untuk production, baru setelah P0, opsional untuk acquisition, dan usage-based.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E2E22-0CA3-4894-984E-EC0709EA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CA730-3E02-4236-82D5-3EF4F952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287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4BD94-B8BB-410C-A984-C763594D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6002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0010D-B3FB-406E-838D-D946326D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6287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 / harga resmi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76758-55C3-48E2-B0EF-28C33F19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0020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501BF-8730-4057-A5C7-30731313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2877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69D2C-06BE-4C0F-824C-6D853D61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002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B2D7B5-D720-42A9-AF8F-56B35046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6287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C32096-9E0C-4058-B421-943748D6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002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BD70C7-EC46-42DC-8052-AA7FAC75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6287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Keputusan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22F74F-EA41-4A7A-AE40-DCF77331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6E1B0D-12BE-423E-8D7B-FDE02F4C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669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Vercel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A3F8B-016A-487A-A6E7-ADECE33A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3835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098283-2656-45E2-B8AC-65854342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669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Pro $20/dev seat/mo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1AE304-90AA-4546-BEBD-79A160D8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3835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3637E1-248B-4A77-A3F2-D800793C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6692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Host 3 Next apps + CDN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7EF8D4-6CDF-4469-93FA-54ED0079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383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5CCC5F-24A8-48E5-9BF3-F17A46F5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669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Existing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1185D3-6A96-4CAC-84DF-349B3F9D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383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756924-7D8C-41F0-B728-DE9F8FC2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669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Wajib production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62CFE4-5547-4809-AB38-317CC8CF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4B69FB-177D-4F0D-9123-237E8363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050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Supabase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CC7285-9FAE-4437-AD16-A70541BE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765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6307E3-7810-4B0C-B36B-B68EAEE3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050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Pro mulai $25/mo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0E7004-2CC2-4266-89BC-86CFF52B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7650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80BC2A-8AD5-4C26-8B51-2CDF6BF5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0507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Postgres, Storage, backup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AB8D5A-7E13-4D64-9103-73EDD3C7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765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AD17D8-EA18-4E11-812C-1279611A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050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Existing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3EE7B6-A789-4E17-BA70-42A155FC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765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7E39D2-9F83-4686-9746-B294A260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050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Wajib production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613B74-F5B2-40DD-A28C-12A9F9BD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3C53E8-E6A0-4280-B0E4-5379EDED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432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Resend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F0EAAD-4F25-4827-B49C-8E5E08A1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91465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8B21E1-AB52-432E-A35D-A20D042F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432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Free $0/3k · Pro $20/50k · Scale $90/100k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8C964A-9327-401C-9F47-98470ADD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1465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CDFA83-F620-4A0B-BDC9-B328DC40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4322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Result, proposal, follow-up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93003A-9D43-4F19-A7C7-60FBEA40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146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97ADFF-D063-4E2A-B780-8DB8A8B5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432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Existing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DD7DDE-5B66-4B10-A8F5-206019A1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146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A1290D-63BC-4E39-8664-99D0C6E1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432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Free→Pro saat &gt;3k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81F3FA-17E2-4043-ADA5-6B87FF3B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1AEE248-CBCF-4EF5-9207-F5707024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813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Calendly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F88F80-D11A-4D31-8F05-2F4CFEB2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528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8FA09CB-E504-4D38-8EF4-4EC4EB36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813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$10/seat/mo annual · $12 monthly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3390FB-5F55-4A2E-9DD6-2028A7BD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5280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A298D23-44B9-4D71-AAB5-E1B73A39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8137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CEO availability + webhooks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DFFEAF9-1B91-4744-A67E-C12C38EB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528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00236AE-942B-406E-9F2D-D237C5C3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813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New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1BF3149-5798-4CD6-9C08-DC3470F7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528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BE8CF1F-553B-4AAE-8175-ACB8451C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813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Direkomendasikan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D6F4ED4-DBDF-45A3-B148-189F7BA5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4A282B5-C20E-4851-AD8E-DF2ED7E7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95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Trigger.dev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67CE574-EE49-4FD0-8A51-2C11D4AF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9095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B58D12C-3401-410D-90B1-8166F897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195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Free $0 · Hobby $10 · Pro $50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BCA36EE-6C44-4DBE-BDDB-204F833B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9095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30F4FB1-AEC7-4804-9943-227280F9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1952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Durable workflow opsional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484D711-D918-4356-8AE5-16D81D3A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909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16FA275-832A-43DC-9987-36772B6C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95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Optional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568C737-0E34-4398-9D79-C650865A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909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C23A79A-14D0-4004-A323-D0518BA4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195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Evaluasi fase berikut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F8F5BF1-1F76-445C-8935-BE13D22A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8F2A8AE-AAE0-4B8E-BC0D-F89D4472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576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Apollo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81D616D-77C8-483A-A811-4382FE2F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291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DC060EC-28AE-41A2-9C0F-65C4E8C0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576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Monthly: Basic $65 · Pro $99 · Org $149/seat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6E6893C-C09B-4098-A1AD-4ECB8953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2910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46AA5EE-DDCF-4571-92C5-A54F92E2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5767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Prospecting + enrichment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3B5A340-BE8D-4FCD-AA3B-E4CC35FE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291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A0EEB86-B6B2-474D-AB72-956C5221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576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Optional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2926A38-13C3-4E8A-AD90-F3DDFB2C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291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C6D721F-E855-478C-8D79-B96E9027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576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Pilot 1 seat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FE8881C-D4EF-41BE-B22C-F92C0044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C7EC16D-34DC-49FB-B8AF-99092591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958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OpenRouter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AF85237-3F68-4133-9A4A-430457CD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6725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A201EAF-0024-40EB-9B5B-03AA4A9B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958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PAYG · 5.5% top-up fee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FE9A535-304C-4551-BDA1-478013C2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66725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2F8A776-0520-4EE2-8C62-BB88AAA9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9582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AI inference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73FE4F8-3F91-46DF-B0D9-28DBC196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672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0DBCEC0-4D45-46E7-BC76-9EB5F5FA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958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Existing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4AFFE62-6A8E-44BF-83CD-0F5D8518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672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5CCDDB6-6881-4E0C-BB21-F3AC14F7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6958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Cap + budget alert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F72E723-ABE3-437B-97FA-FC0D2C80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7C57DFF-3D5C-48F7-9734-333F9C20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339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PostHog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4365C77-A6D9-4C44-8073-99FFA3C3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1054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E0182EF-E824-40FD-AA32-E33F8843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1339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$0 ≤1M analytics events/mo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762A957-76ED-4F5F-A15C-772F7E3D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10540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49F77DF-86A3-49F4-A89F-58BF8590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13397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Attribution + funnel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36F83E8-212E-408C-A2DB-22610683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1054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222C943-4296-40AB-9DB0-806A4313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1339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New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4E2CDBF-5680-4BB7-95EF-2ABE8142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054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B121533-51F2-4D0C-86C8-2A5386B1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1339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Aktifkan free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53EB90A-46DB-4F11-9002-5AC0E277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1877C17-2C70-4174-8EDB-3CA6C655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721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Sentry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929DDE4-2BC5-42D8-9CCE-E7EB2FF8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4355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E0E1FEF-81B1-4746-A413-67FF84F2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5721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Developer $0 · Team $26/mo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4F2D0DB-9F0A-43D8-BCD7-C396561E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4355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B6431D5-B425-4492-BFA5-9860E51F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7212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Errors, traces, cron health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FBAA07A-8838-4AEF-BDAA-0C4A577D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5435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474C022-43DB-44CD-BC1E-615BB926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572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New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9B1DB38-55F6-401A-8221-9C8D9313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5435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C34EC24-4369-4779-A6C5-ABE095D5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5721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Free→Team saat scale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FF67C73-BA21-4FD2-B457-FA381959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139190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06A1026-9058-4967-8397-8625E09B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34100"/>
            <a:ext cx="1139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Supabase: Free $0 · Pro $25 · Team $599. Tidak termasuk ads, pajak, AI, extra credits, verification, mailbox, dan overage.</a:t>
            </a:r>
          </a:p>
        </p:txBody>
      </p:sp>
    </p:spTree>
    <p:extLst>
      <p:ext uri="{BB962C8B-B14F-4D97-AF65-F5344CB8AC3E}">
        <p14:creationId xmlns:p14="http://schemas.microsoft.com/office/powerpoint/2010/main" val="16380897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5B75643-AB93-45F3-8E3D-2C9963AF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VARIABLE SPEND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8E1D3-3525-44DE-AC10-A4E438FD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6F7D1-1D1C-4616-8BC9-214934F6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C48F8-FFDF-4998-A84E-11A55D7C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SaaS kecil; media dan data yang menentukan total burn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28ABC-8F03-4A1C-9D59-7F694D13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Envelope berikut adalah asumsi perencanaan, bukan quote vendor. Validasi ulang setelah 30 hari memakai CAC per completed assessment dan per booked meeting.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96461-4586-4C40-938B-5936A00D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3562350" cy="3905250"/>
          </a:xfrm>
          <a:prstGeom xmlns:a="http://schemas.openxmlformats.org/drawingml/2006/main" prst="roundRect">
            <a:avLst>
              <a:gd name="adj" fmla="val 4278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C3070-FFBA-444B-9B06-679D0620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PILOT 90 HARI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B65A3-C0F2-49FA-840B-E831B474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Fixed SaaS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B9BCAC-DE55-47BE-B20C-126C3E1B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Rp1,0–2,5 jt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DCA18E-39AF-4304-A4EE-940879CA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75752-737E-4F59-A9E5-043E6C86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AI / data / verify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5D70D-B369-402B-BD4A-742C293C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43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Rp0,5–1,5 jt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AEA351-FF84-4973-B874-7E3CFE7E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43B3F9-00C6-4A7A-8B29-4BAF68E5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Media spend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59177B-532D-406A-A6A4-A9054DB2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290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Rp5–10 jt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126755-DF08-4564-B390-69F2719B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78DEAB-37FE-4D37-8ABC-112F5551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TOTAL ENVELOPE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56966F-DD7A-4BA4-88F9-D00A31F4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Rp6,5–14 jt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2A9182-4A4C-4424-93A8-D5056F78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Lean→Apollo bila ICP sudah jelas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59DD03-A235-4535-B41B-830C25D5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52600"/>
            <a:ext cx="3562350" cy="3905250"/>
          </a:xfrm>
          <a:prstGeom xmlns:a="http://schemas.openxmlformats.org/drawingml/2006/main" prst="roundRect">
            <a:avLst>
              <a:gd name="adj" fmla="val 4278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C11695-FEB3-411F-9744-83CF53DF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0002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GROWTH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65B776-02FF-444C-BBE0-D1B8B36B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765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Fixed SaaS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20F874-8F36-4A6F-8E14-043F7215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4574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Rp2,5–3,5 jt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27364E-2753-4E8F-B663-C6B6B6E4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8384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DAC65C-FD9A-4A9B-9069-33A7BD7B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623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AI / data / verify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7F647F-CF41-464F-9A01-20EE0067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143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Rp2–5 jt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2B8CB1-BD64-4CD5-8476-DED213A5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5242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C311E5-D42B-480D-B19A-E0B4017A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8481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Media spend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9CADC6-DB85-41BC-A58D-50CE5153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8290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Rp15–30 jt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4B8DE9-C578-4756-8715-E7A4EA41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100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B8E06E-D183-43C3-A178-66326819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5148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TOTAL ENVELOPE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5E482F-ED2F-430E-9D7E-4D5EDC89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78155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Rp19,5–38,5 jt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91407C-B8FD-48EF-A1F6-4FB533DA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2768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Email Pro · analytics · enrichment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8FA89D-066A-42A0-8DAB-5398C09D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3562350" cy="3905250"/>
          </a:xfrm>
          <a:prstGeom xmlns:a="http://schemas.openxmlformats.org/drawingml/2006/main" prst="roundRect">
            <a:avLst>
              <a:gd name="adj" fmla="val 4278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311BC8-7E7E-4D1F-B309-C9716162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002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9163D0-D9AD-4B2D-927F-0D671243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765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Fixed SaaS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303BEB-75E7-4E9B-BE6D-44011E39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574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Mulai Rp3,5 jt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98E286-BA8E-4E8C-9F18-E4078057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384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061CC6-C1B5-4021-9B41-42DAA872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AI / data / verify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54FF67-EEB1-44F2-A05F-90AE5DE7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43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Rp5–15 jt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EAA9F3-6758-4E08-8915-03EEA9EE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242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B175FE-25A5-4436-8486-EABA8475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481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Media spend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DB0B59-8F53-4F7A-A8A9-F09BB318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8290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Rp40–100 jt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1DDDDE-FA42-4CA4-A812-9D08D4A2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100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49F4D9-AC27-46A1-A2F5-A0D439D4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148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TOTAL ENVELOPE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928A73-2F30-4426-94E0-0E6EEADC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78155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Rp48,5 jt+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DF5BFE-7504-4477-805C-95E897CB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2768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Sentry Team/Trigger hanya jika terbukti perlu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8280BCD-4C73-4EE4-A817-34097BE9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13919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B769F19-048D-43CD-99ED-FDAC6C81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11087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Kriteria ekspansi media: data source→assessment→meeting→won lengkap, dengan tingkat spam dan unsubscribe tetap sehat.</a:t>
            </a:r>
          </a:p>
        </p:txBody>
      </p:sp>
    </p:spTree>
    <p:extLst>
      <p:ext uri="{BB962C8B-B14F-4D97-AF65-F5344CB8AC3E}">
        <p14:creationId xmlns:p14="http://schemas.microsoft.com/office/powerpoint/2010/main" val="148257384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9A8100-A034-4110-81B2-C113587F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IMPLEMENTATION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8E2ED-0A9B-44F7-BEAF-241D8731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890F1-8FB8-41F3-A0C6-53938574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09C43-833B-4FD3-BD70-F0A63864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Roadmap 120 hari: harden dulu, lalu hidupkan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B1F84-4272-413B-B032-1ADC6431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Masing-masing fase memiliki exit gate yang dapat diuji; tidak ada automation yang dinyatakan siap hanya karena UI sudah 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17C41B-39E0-4104-BAA6-2E89F1CD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628900" cy="37147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AA980-0193-4B44-8FCA-D49B06DC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1930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DAY 0–30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4AB8A2-BF0F-4E38-856A-CC9DBA91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P0 HARDEN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530BA-DD99-4A12-B917-714A6F68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22479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Schema reconcile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Contact/chat fix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Status model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Atomic worker + retry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Unsubscribe + suppression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8D310D-AA7B-43F2-877A-E71204E0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2247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EXIT 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06D9E5-2642-44AA-8E14-D1BD3D25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Fresh deploy &amp; smoke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3B8277-6CD7-42C5-B027-B6AF3F0C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09950"/>
            <a:ext cx="2095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16C462-2149-4B28-AC36-5A9E24A5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2628900" cy="37147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84AFE1-A697-4B97-9B28-79AC43F4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1930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DAY 31–60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11B393-1EE4-4136-AB6D-F9DB6B19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81250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VERTICAL SLICE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40CFAF-93D6-4363-BC09-7AB4EFFF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67050"/>
            <a:ext cx="22479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UTM + activity timeline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Lead routing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Standard proposal rules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Human approval task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Dashboard SLA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249BD2-A2D7-4799-89F0-BEAE871A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762500"/>
            <a:ext cx="2247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EXIT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8194ED-B8A4-4729-A724-1F42A376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02920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Prospect→proposal traceable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0B8603-7A6A-4015-9405-8007672D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409950"/>
            <a:ext cx="2095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7BDFC8-CA5E-48EB-A51B-20D74789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2628900" cy="37147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1A7152-328D-4D07-9C6C-02A37F3C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DAY 61–90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C20A5A-5410-408A-ACED-2AC3ED08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ACQUIRE + MEET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4D4171-DB93-4DE4-95F2-88263E70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67050"/>
            <a:ext cx="22479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Apollo pilot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Calendly webhook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Meeting brief/recap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Resend events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PostHog funnel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5BCBB4-BDBD-4483-8499-BF688C03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62500"/>
            <a:ext cx="2247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EXIT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369AA3-3B22-4B6C-9846-E480D0C9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2920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CAC + booking measured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34846A-883C-45FA-976E-AA1DE319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409950"/>
            <a:ext cx="2095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81207D-4CDD-4E40-99AF-EFE42341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2647950" cy="3714750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FFEAFA-A0CC-47A0-A9E2-397E212E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1930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DAY 91–120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558AFE-300E-4529-9421-ED02FD30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CLIENT + RETAIN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776F4E-C817-4A22-B3E0-E5581CC1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67050"/>
            <a:ext cx="22669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Won handoff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Autopilot stable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Health score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PIC history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QBR + repeat opportunity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6D54F4-DF36-4BA1-BC00-4DC26877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62500"/>
            <a:ext cx="2266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EXIT GATE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C4BB7F-6643-45AF-89B8-1EDD5367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2920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First retain playbook live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1C9241-034D-4A71-B95F-95227B45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Owner minimum: Product/Tech lead · Sales ops · CEO/commercial approver · Data/privacy owner · Delivery ops</a:t>
            </a:r>
          </a:p>
        </p:txBody>
      </p:sp>
    </p:spTree>
    <p:extLst>
      <p:ext uri="{BB962C8B-B14F-4D97-AF65-F5344CB8AC3E}">
        <p14:creationId xmlns:p14="http://schemas.microsoft.com/office/powerpoint/2010/main" val="79565402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FB7710-930D-4C70-B93E-03BCAC77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CEO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311EC-B5D6-4A09-9415-3681BB12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20A4F-22D4-4509-89A9-AE84CE08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05CA3-4CAF-420C-ACF9-7E26F2F5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Enam keputusan CEO untuk memulai implementasi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A8676-69AF-4FF4-9490-E8E49F91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Keputusan berikut menetapkan arah komersial, batas otomatisasi, investasi, dan ownership program.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827BC-0CC7-49F2-A319-E25D2492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6197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6DFDC-6748-43DA-A77F-7DE61A51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580F3-8353-4200-BBFA-B1E3594B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88595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ICP &amp; channel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AA30DD-0104-483E-8E8A-E8F83A34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2885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Industri, ukuran, jabatan, wilayah, exclusion list, dan batas penggunaan 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F1852-61EB-440E-884E-4049B8D5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14500"/>
            <a:ext cx="56197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99E76-3D52-4E9D-9F32-E827CB0E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050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45B11-8F2E-461E-8FF2-A26A5F4A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8595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Catalog &amp; pricing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E23D6A-5E30-4AE1-8395-003B1202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2885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Modul, unit harga, minimum deal, discount ceiling, validity, dan pajak.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240287-ECF3-4F50-86A6-DB4C23B8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56197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B585D5-2601-4AE0-B166-6FE32EAA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575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C9D700-9FA7-4C89-84E4-A2C5111F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385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Human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48F969-ABC6-456B-A65E-EAF73DEF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8140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Nilai deal, custom scope, confidence, reputational risk, dan SLA approval.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9B8F84-47F9-45FC-9540-7289FF18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67050"/>
            <a:ext cx="56197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9AD486-E652-46A1-87DE-A67F14E7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575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39466F-BDE1-4742-8B24-25848D2A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385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Budget envelope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CE8432-332F-4098-880D-469C698F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8140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Lean $55, email-pro $75, atau +Apollo monthly $140—plus cap AI dan media.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1243F9-C2E8-4560-9909-2F6861A6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56197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57C5C0-8FD6-4015-963C-7880B5C9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01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E36058-361A-4D3F-BBAE-55CE5CB0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9105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Ownership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AACBF2-95D1-4EAA-8A7C-D1317D71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3395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Sales ops, product/tech, privacy/deliverability, delivery ops, dan approver.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FBC32D-43E3-443B-8A75-96B55A13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19600"/>
            <a:ext cx="56197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1ACAC4-65AA-4A4D-A0D5-38412FEE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101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A67867-4E02-4948-89FC-28EFA247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9105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90-day KPI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ACD740-1363-4090-BD1F-96013A55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3395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Completed assessment, qualified lead, meeting, proposal, win, CAC, dan spam rate.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6D5376-722A-4261-AE9E-2D6EA6C0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13919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5DC5C8-0181-40FF-A4C0-40B8DA4B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USULAN KEPUTUSAN: Lean Production dan P0 hardening disetujui; Trigger.dev dievaluasi setelah terdapat kebutuhan operasional yang terukur.</a:t>
            </a:r>
          </a:p>
        </p:txBody>
      </p:sp>
    </p:spTree>
    <p:extLst>
      <p:ext uri="{BB962C8B-B14F-4D97-AF65-F5344CB8AC3E}">
        <p14:creationId xmlns:p14="http://schemas.microsoft.com/office/powerpoint/2010/main" val="2786807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2026-08-25T07:45:51.3610000Z</dcterms:created>
  <dcterms:modified xsi:type="dcterms:W3CDTF">2026-08-25T07:45:51.3610000Z</dcterms:modified>
</coreProperties>
</file>